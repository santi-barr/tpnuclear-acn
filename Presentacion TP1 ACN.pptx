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equipo y del encargo. Somos una consultora que Di Tella Flying Circus contrató para decidir cómo embarcar su avión. Abajo se ve nuestra simulación: el embarque por WILMA, que es lo que vamos a recomendar.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respuesta primero. Steffen es la más rápida, 23 minutos, pero recomendamos WILMA: 26 minutos, con una regla simple que el pasajero puede cumplir. Dos hallazgos más: el carry-on es lo que más mueve el tiempo, y dejar asientos vacíos para ganar tiempo no se paga. Todo esto lo vamos a justificar en las próximas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avión tiene 25 filas de cuatro asientos y un pasillo por el que pasa una sola persona. Abajo se ve cómo lo representamos: filas 1 a 25, asientos A a D, y el pasillo en el medio. Las cuatro preguntas del cliente son las que vamos a responder.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regla de comportamiento que pide el enunciado. Un pasajero entra si la primera fila está libre, avanza de a una fila si la de adelante está vacía, y si está ocupada espera y vuelve a mirar cada tres segundos. Al llegar guarda la valija bloqueando el pasillo, y se sienta. Si tiene que pasar por encima de alguien, ese otro se levanta y tardan entre 20 y 25 segundos. El supuesto clave: no ponemos un tope artificial de gente en el pasillo; si lo ponemos, la puerta pasa a ser el cuello de botella y la política deja de importar.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tiempos de caminata los da el enunciado. Los otros tres son estimaciones nuestras a partir de observación y videos. Los sorteamos de una distribución uniforme para que haya variabilidad entre pasajeros. El escenario base es p = 0,5, y corremos 1.000 simulaciones por escenario, lo que deja el error de cada media en pocos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núcleo es un loop donde cada vuelta es un segundo: entra alguien si hay lugar, todos los del pasillo hacen su movimiento, y los que se sentaron salen. Cuando están los 100 sentados, ese segundo es el tiempo de llenado. Lo importante del diseño es que la política es sólo una función que decide quién sube: el resto es idéntico para las cinco, así que la comparación es justa. Todos los análisis reusan ese mismo simulador.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Acá se ven las cinco políticas funcionando en nuestra visualización. Lo único que cambia entre ellas es el orden en que sube la gente. Steffen y WILMA llenan de afuera hacia adentro, así que nadie tiene que levantarse para dejar pasar a otro. Back-to-Front manda a todos a la misma zona del avión al mismo tiempo, y ahí se traba el pasillo: fíjense en los pasajeros frenados en rojo.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respuesta a la primera pregunta. Con 1.000 corridas: Steffen 23 minutos, WILMA 26, Random y B2F Ultimate unos 29, y Back-to-Front 34 y medio. Los tres paneles muestran lo mismo con 10, 100 y 1.000 corridas: el orden ya aparece con 10, y con más corridas las medias se estabilizan. Además, la caja de Steffen es la más angosta: es la más predecible.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consigna pide cuantificar el error de cada estimador. El error de la media es el desvío sobre raíz de n: con 1.000 corridas queda entre 1 y 3 segundos, mientras que las diferencias entre políticas son de minutos. El único empate es Random contra B2F Ultimate. El desvío también tiene error, de 1 a 2 segundos. Y el orden de magnitud, entre 23 y 35 minutos, es razonable para un avión de 100 pasajeros.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Barrimos la probabilidad de carry-on de 0 a 1. Sin valijas todas las políticas están cerca, entre 16 y 21 minutos. A medida que sube el carry-on se separan, porque guardar la valija bloquea el pasillo, y eso castiga más a las políticas que amontonan gente en la misma zona. Un dato que usamos para validar el modelo: sin carry-on, Steffen da siempre exactamente el mismo tiempo, desvío cero.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dos casos que pregunta el enunciado. Si nadie lleva carry-on, Steffen tarda 16 minutos y Back-to-Front 21. Si todos llevan, Steffen tarda 27 y Back-to-Front 46: más que duplica. Conclusión de negocio: el carry-on es la variable que más mueve el tiempo de embarque.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pregunta de las plazas vacías probamos cuatro formas de dejar entre 4 y 20 asientos sin vender. Vaciar acelera, pero poco: cada asiento ahorra entre 14 y 22 segundos. Y la comparación clave: Back-to-Front con 20 asientos vacíos tarda lo mismo que WILMA con el avión lleno. Ordenar bien vale lo mismo que perder 20 pasajes.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85 dólares por minuto, una demora de media hora le cuesta a la aerolínea 2.550 dólares. Aun así, vaciar asientos nunca conviene: el gráfico muestra el beneficio neto contra el avión lleno y siempre da negativo. La razón: un asiento vale 150 dólares, y el tiempo que ahorra dejarlo vacío vale entre 20 y 40. Para que convenga, el pasaje tendría que costar menos que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bonus analizamos el embarque prioritario: la aerolínea vende a N pasajeros el derecho a subir primero, y esos pasajeros rompen el orden. Cuanto mejor es la política, más le cuesta: cada prioritario le agrega 4 segundos a Steffen y 2 a WILMA. A Random no le cuesta nada porque no tiene orden que romper, y a Back-to-Front hasta lo mejora. Pero a 15 dólares, venderlo siempre conviene: la ventaja de Steffen vale 480 dólares por vuelo y cien prioritarios son 1.500. Ojo: esto supone que hay demanda para todos; en la realidad el prioritario vale porque es escaso.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Nuestra recomendación es WILMA. Frente a Back-to-Front ahorra 8 minutos por vuelo, casi 700 dólares. Frente a Steffen pierde 3 minutos, pero Steffen es imposible de implementar: hay que ordenar pasajero por pasajero, y como vimos en el bonus, es la que más pierde cuando alguien no respeta el orden. WILMA se explica en una frase. Como próximos pasos: medir los tiempos reales, trabajar sobre el carry-on, que es la palanca más grande, y evaluar el embarque por dos puertas.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gif"/><Relationship Id="rId2" Type="http://schemas.openxmlformats.org/officeDocument/2006/relationships/image" Target="../media/image-7-2.gif"/><Relationship Id="rId3" Type="http://schemas.openxmlformats.org/officeDocument/2006/relationships/image" Target="../media/image-7-3.gif"/><Relationship Id="rId4" Type="http://schemas.openxmlformats.org/officeDocument/2006/relationships/image" Target="../media/image-7-4.gif"/><Relationship Id="rId5" Type="http://schemas.openxmlformats.org/officeDocument/2006/relationships/image" Target="../media/image-7-5.gif"/><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822960"/>
            <a:ext cx="11094415" cy="32004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Di Tella Flying Circus · Aplicaciones Computacionales en Negocios</a:t>
            </a:r>
            <a:endParaRPr lang="en-US" sz="1400" dirty="0"/>
          </a:p>
        </p:txBody>
      </p:sp>
      <p:sp>
        <p:nvSpPr>
          <p:cNvPr id="3" name="Text 1"/>
          <p:cNvSpPr txBox="1"/>
          <p:nvPr/>
        </p:nvSpPr>
        <p:spPr>
          <a:xfrm>
            <a:off x="548640" y="1234440"/>
            <a:ext cx="11094415" cy="822960"/>
          </a:xfrm>
          <a:prstGeom prst="rect">
            <a:avLst/>
          </a:prstGeom>
          <a:noFill/>
          <a:ln/>
        </p:spPr>
        <p:txBody>
          <a:bodyPr wrap="square" lIns="0" tIns="0" rIns="0" bIns="0" rtlCol="0" anchor="t"/>
          <a:lstStyle/>
          <a:p>
            <a:pPr indent="0" marL="0">
              <a:buNone/>
            </a:pPr>
            <a:r>
              <a:rPr lang="en-US" sz="4400" b="1" dirty="0">
                <a:solidFill>
                  <a:srgbClr val="1A1A1A"/>
                </a:solidFill>
                <a:latin typeface="Arial" pitchFamily="34" charset="0"/>
                <a:ea typeface="Arial" pitchFamily="34" charset="-122"/>
                <a:cs typeface="Arial" pitchFamily="34" charset="-120"/>
              </a:rPr>
              <a:t>Cómo embarcar un avión más rápido</a:t>
            </a:r>
            <a:endParaRPr lang="en-US" sz="4400" dirty="0"/>
          </a:p>
        </p:txBody>
      </p:sp>
      <p:sp>
        <p:nvSpPr>
          <p:cNvPr id="4" name="Text 2"/>
          <p:cNvSpPr txBox="1"/>
          <p:nvPr/>
        </p:nvSpPr>
        <p:spPr>
          <a:xfrm>
            <a:off x="548640" y="2103120"/>
            <a:ext cx="11094415" cy="411480"/>
          </a:xfrm>
          <a:prstGeom prst="rect">
            <a:avLst/>
          </a:prstGeom>
          <a:noFill/>
          <a:ln/>
        </p:spPr>
        <p:txBody>
          <a:bodyPr wrap="square" lIns="0" tIns="0" rIns="0" bIns="0" rtlCol="0" anchor="t"/>
          <a:lstStyle/>
          <a:p>
            <a:pPr indent="0" marL="0">
              <a:buNone/>
            </a:pPr>
            <a:r>
              <a:rPr lang="en-US" sz="1800" dirty="0">
                <a:solidFill>
                  <a:srgbClr val="555555"/>
                </a:solidFill>
                <a:latin typeface="Arial" pitchFamily="34" charset="0"/>
                <a:ea typeface="Arial" pitchFamily="34" charset="-122"/>
                <a:cs typeface="Arial" pitchFamily="34" charset="-120"/>
              </a:rPr>
              <a:t>Simulación de cinco políticas de embarque para un avión de 100 pasajeros</a:t>
            </a:r>
            <a:endParaRPr lang="en-US" sz="1800" dirty="0"/>
          </a:p>
        </p:txBody>
      </p:sp>
      <p:sp>
        <p:nvSpPr>
          <p:cNvPr id="5" name="Text 3"/>
          <p:cNvSpPr txBox="1"/>
          <p:nvPr/>
        </p:nvSpPr>
        <p:spPr>
          <a:xfrm>
            <a:off x="548640" y="2606040"/>
            <a:ext cx="11094415" cy="32004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Trabajo Práctico 1 · Septiembre de 2026</a:t>
            </a:r>
            <a:endParaRPr lang="en-US" sz="1400" dirty="0"/>
          </a:p>
        </p:txBody>
      </p:sp>
      <p:sp>
        <p:nvSpPr>
          <p:cNvPr id="6" name="Text 4"/>
          <p:cNvSpPr txBox="1"/>
          <p:nvPr/>
        </p:nvSpPr>
        <p:spPr>
          <a:xfrm>
            <a:off x="548640" y="3401568"/>
            <a:ext cx="11094415" cy="274320"/>
          </a:xfrm>
          <a:prstGeom prst="rect">
            <a:avLst/>
          </a:prstGeom>
          <a:noFill/>
          <a:ln/>
        </p:spPr>
        <p:txBody>
          <a:bodyPr wrap="square" lIns="0" tIns="0" rIns="0" bIns="0" rtlCol="0" anchor="t"/>
          <a:lstStyle/>
          <a:p>
            <a:pPr indent="0" marL="0">
              <a:buNone/>
            </a:pPr>
            <a:r>
              <a:rPr lang="en-US" sz="1100" dirty="0">
                <a:solidFill>
                  <a:srgbClr val="8A8A8A"/>
                </a:solidFill>
                <a:latin typeface="Arial" pitchFamily="34" charset="0"/>
                <a:ea typeface="Arial" pitchFamily="34" charset="-122"/>
                <a:cs typeface="Arial" pitchFamily="34" charset="-120"/>
              </a:rPr>
              <a:t>Simulación del embarque por WILMA</a:t>
            </a:r>
            <a:endParaRPr lang="en-US" sz="1100" dirty="0"/>
          </a:p>
        </p:txBody>
      </p:sp>
      <p:pic>
        <p:nvPicPr>
          <p:cNvPr id="7" name="Image 0" descr="C:\Users\busta\OneDrive\Documentos\Di Tella\ACN\TP1 aviones\TPNUCLEAR-ACN\paragraficar\gifs politicas\WILMA_recorte.gif">    </p:cNvPr>
          <p:cNvPicPr>
            <a:picLocks noChangeAspect="1"/>
          </p:cNvPicPr>
          <p:nvPr/>
        </p:nvPicPr>
        <p:blipFill>
          <a:blip r:embed="rId1"/>
          <a:stretch>
            <a:fillRect/>
          </a:stretch>
        </p:blipFill>
        <p:spPr>
          <a:xfrm>
            <a:off x="548640" y="3703320"/>
            <a:ext cx="11094415" cy="26947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Resumen ejecutivo</a:t>
            </a:r>
            <a:endParaRPr lang="en-US" sz="1200" dirty="0"/>
          </a:p>
        </p:txBody>
      </p:sp>
      <p:sp>
        <p:nvSpPr>
          <p:cNvPr id="3" name="Text 1"/>
          <p:cNvSpPr txBox="1"/>
          <p:nvPr/>
        </p:nvSpPr>
        <p:spPr>
          <a:xfrm>
            <a:off x="548640" y="603504"/>
            <a:ext cx="11094415" cy="914400"/>
          </a:xfrm>
          <a:prstGeom prst="rect">
            <a:avLst/>
          </a:prstGeom>
          <a:noFill/>
          <a:ln/>
        </p:spPr>
        <p:txBody>
          <a:bodyPr wrap="square" lIns="0" tIns="0" rIns="0" bIns="0" rtlCol="0" anchor="t"/>
          <a:lstStyle/>
          <a:p>
            <a:pPr indent="0" marL="0">
              <a:lnSpc>
                <a:spcPct val="100000"/>
              </a:lnSpc>
              <a:buNone/>
            </a:pPr>
            <a:r>
              <a:rPr lang="en-US" sz="2600" b="1" dirty="0">
                <a:solidFill>
                  <a:srgbClr val="1A1A1A"/>
                </a:solidFill>
                <a:latin typeface="Arial" pitchFamily="34" charset="0"/>
                <a:ea typeface="Arial" pitchFamily="34" charset="-122"/>
                <a:cs typeface="Arial" pitchFamily="34" charset="-120"/>
              </a:rPr>
              <a:t>Recomendamos embarcar por WILMA: 8 minutos menos que Back‑to‑Front con una regla que cualquiera entiende</a:t>
            </a:r>
            <a:endParaRPr lang="en-US" sz="2600" dirty="0"/>
          </a:p>
        </p:txBody>
      </p:sp>
      <p:sp>
        <p:nvSpPr>
          <p:cNvPr id="4" name="Text 2"/>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2</a:t>
            </a:r>
            <a:endParaRPr lang="en-US" sz="1000" dirty="0"/>
          </a:p>
        </p:txBody>
      </p:sp>
      <p:sp>
        <p:nvSpPr>
          <p:cNvPr id="5" name="Text 3"/>
          <p:cNvSpPr txBox="1"/>
          <p:nvPr/>
        </p:nvSpPr>
        <p:spPr>
          <a:xfrm>
            <a:off x="548640" y="2011680"/>
            <a:ext cx="2533574" cy="685800"/>
          </a:xfrm>
          <a:prstGeom prst="rect">
            <a:avLst/>
          </a:prstGeom>
          <a:noFill/>
          <a:ln/>
        </p:spPr>
        <p:txBody>
          <a:bodyPr wrap="square" lIns="0" tIns="0" rIns="0" bIns="0" rtlCol="0" anchor="t"/>
          <a:lstStyle/>
          <a:p>
            <a:pPr indent="0" marL="0">
              <a:buNone/>
            </a:pPr>
            <a:r>
              <a:rPr lang="en-US" sz="3800" b="1" dirty="0">
                <a:solidFill>
                  <a:srgbClr val="1A1A1A"/>
                </a:solidFill>
                <a:latin typeface="Arial" pitchFamily="34" charset="0"/>
                <a:ea typeface="Arial" pitchFamily="34" charset="-122"/>
                <a:cs typeface="Arial" pitchFamily="34" charset="-120"/>
              </a:rPr>
              <a:t>23 min</a:t>
            </a:r>
            <a:endParaRPr lang="en-US" sz="3800" dirty="0"/>
          </a:p>
        </p:txBody>
      </p:sp>
      <p:sp>
        <p:nvSpPr>
          <p:cNvPr id="6" name="Text 4"/>
          <p:cNvSpPr txBox="1"/>
          <p:nvPr/>
        </p:nvSpPr>
        <p:spPr>
          <a:xfrm>
            <a:off x="548640" y="2743200"/>
            <a:ext cx="2533574"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Steffen, la más rápida</a:t>
            </a:r>
            <a:endParaRPr lang="en-US" sz="1400" dirty="0"/>
          </a:p>
        </p:txBody>
      </p:sp>
      <p:sp>
        <p:nvSpPr>
          <p:cNvPr id="7" name="Text 5"/>
          <p:cNvSpPr txBox="1"/>
          <p:nvPr/>
        </p:nvSpPr>
        <p:spPr>
          <a:xfrm>
            <a:off x="548640" y="3090672"/>
            <a:ext cx="2533574" cy="1097280"/>
          </a:xfrm>
          <a:prstGeom prst="rect">
            <a:avLst/>
          </a:prstGeom>
          <a:noFill/>
          <a:ln/>
        </p:spPr>
        <p:txBody>
          <a:bodyPr wrap="square" lIns="0" tIns="0" rIns="0" bIns="0" rtlCol="0" anchor="t"/>
          <a:lstStyle/>
          <a:p>
            <a:pPr indent="0" marL="0">
              <a:lnSpc>
                <a:spcPct val="110000"/>
              </a:lnSpc>
              <a:buNone/>
            </a:pPr>
            <a:r>
              <a:rPr lang="en-US" sz="1250" dirty="0">
                <a:solidFill>
                  <a:srgbClr val="555555"/>
                </a:solidFill>
                <a:latin typeface="Arial" pitchFamily="34" charset="0"/>
                <a:ea typeface="Arial" pitchFamily="34" charset="-122"/>
                <a:cs typeface="Arial" pitchFamily="34" charset="-120"/>
              </a:rPr>
              <a:t>Y la más predecible: su desvío es de 27 segundos, la mitad que el de WILMA.</a:t>
            </a:r>
            <a:endParaRPr lang="en-US" sz="1250" dirty="0"/>
          </a:p>
        </p:txBody>
      </p:sp>
      <p:sp>
        <p:nvSpPr>
          <p:cNvPr id="8" name="Text 6"/>
          <p:cNvSpPr txBox="1"/>
          <p:nvPr/>
        </p:nvSpPr>
        <p:spPr>
          <a:xfrm>
            <a:off x="3402254" y="2011680"/>
            <a:ext cx="2533574" cy="685800"/>
          </a:xfrm>
          <a:prstGeom prst="rect">
            <a:avLst/>
          </a:prstGeom>
          <a:noFill/>
          <a:ln/>
        </p:spPr>
        <p:txBody>
          <a:bodyPr wrap="square" lIns="0" tIns="0" rIns="0" bIns="0" rtlCol="0" anchor="t"/>
          <a:lstStyle/>
          <a:p>
            <a:pPr indent="0" marL="0">
              <a:buNone/>
            </a:pPr>
            <a:r>
              <a:rPr lang="en-US" sz="3800" b="1" dirty="0">
                <a:solidFill>
                  <a:srgbClr val="1A1A1A"/>
                </a:solidFill>
                <a:latin typeface="Arial" pitchFamily="34" charset="0"/>
                <a:ea typeface="Arial" pitchFamily="34" charset="-122"/>
                <a:cs typeface="Arial" pitchFamily="34" charset="-120"/>
              </a:rPr>
              <a:t>26 min</a:t>
            </a:r>
            <a:endParaRPr lang="en-US" sz="3800" dirty="0"/>
          </a:p>
        </p:txBody>
      </p:sp>
      <p:sp>
        <p:nvSpPr>
          <p:cNvPr id="9" name="Text 7"/>
          <p:cNvSpPr txBox="1"/>
          <p:nvPr/>
        </p:nvSpPr>
        <p:spPr>
          <a:xfrm>
            <a:off x="3402254" y="2743200"/>
            <a:ext cx="2533574"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WILMA, la recomendada</a:t>
            </a:r>
            <a:endParaRPr lang="en-US" sz="1400" dirty="0"/>
          </a:p>
        </p:txBody>
      </p:sp>
      <p:sp>
        <p:nvSpPr>
          <p:cNvPr id="10" name="Text 8"/>
          <p:cNvSpPr txBox="1"/>
          <p:nvPr/>
        </p:nvSpPr>
        <p:spPr>
          <a:xfrm>
            <a:off x="3402254" y="3090672"/>
            <a:ext cx="2533574" cy="1097280"/>
          </a:xfrm>
          <a:prstGeom prst="rect">
            <a:avLst/>
          </a:prstGeom>
          <a:noFill/>
          <a:ln/>
        </p:spPr>
        <p:txBody>
          <a:bodyPr wrap="square" lIns="0" tIns="0" rIns="0" bIns="0" rtlCol="0" anchor="t"/>
          <a:lstStyle/>
          <a:p>
            <a:pPr indent="0" marL="0">
              <a:lnSpc>
                <a:spcPct val="110000"/>
              </a:lnSpc>
              <a:buNone/>
            </a:pPr>
            <a:r>
              <a:rPr lang="en-US" sz="1250" dirty="0">
                <a:solidFill>
                  <a:srgbClr val="555555"/>
                </a:solidFill>
                <a:latin typeface="Arial" pitchFamily="34" charset="0"/>
                <a:ea typeface="Arial" pitchFamily="34" charset="-122"/>
                <a:cs typeface="Arial" pitchFamily="34" charset="-120"/>
              </a:rPr>
              <a:t>Captura el 71% de la ventaja de Steffen sobre Back‑to‑Front con sólo dos grupos de embarque.</a:t>
            </a:r>
            <a:endParaRPr lang="en-US" sz="1250" dirty="0"/>
          </a:p>
        </p:txBody>
      </p:sp>
      <p:sp>
        <p:nvSpPr>
          <p:cNvPr id="11" name="Text 9"/>
          <p:cNvSpPr txBox="1"/>
          <p:nvPr/>
        </p:nvSpPr>
        <p:spPr>
          <a:xfrm>
            <a:off x="6255868" y="2011680"/>
            <a:ext cx="2533574" cy="685800"/>
          </a:xfrm>
          <a:prstGeom prst="rect">
            <a:avLst/>
          </a:prstGeom>
          <a:noFill/>
          <a:ln/>
        </p:spPr>
        <p:txBody>
          <a:bodyPr wrap="square" lIns="0" tIns="0" rIns="0" bIns="0" rtlCol="0" anchor="t"/>
          <a:lstStyle/>
          <a:p>
            <a:pPr indent="0" marL="0">
              <a:buNone/>
            </a:pPr>
            <a:r>
              <a:rPr lang="en-US" sz="3800" b="1" dirty="0">
                <a:solidFill>
                  <a:srgbClr val="1A1A1A"/>
                </a:solidFill>
                <a:latin typeface="Arial" pitchFamily="34" charset="0"/>
                <a:ea typeface="Arial" pitchFamily="34" charset="-122"/>
                <a:cs typeface="Arial" pitchFamily="34" charset="-120"/>
              </a:rPr>
              <a:t>+125%</a:t>
            </a:r>
            <a:endParaRPr lang="en-US" sz="3800" dirty="0"/>
          </a:p>
        </p:txBody>
      </p:sp>
      <p:sp>
        <p:nvSpPr>
          <p:cNvPr id="12" name="Text 10"/>
          <p:cNvSpPr txBox="1"/>
          <p:nvPr/>
        </p:nvSpPr>
        <p:spPr>
          <a:xfrm>
            <a:off x="6255868" y="2743200"/>
            <a:ext cx="2533574"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El carry-on es la palanca</a:t>
            </a:r>
            <a:endParaRPr lang="en-US" sz="1400" dirty="0"/>
          </a:p>
        </p:txBody>
      </p:sp>
      <p:sp>
        <p:nvSpPr>
          <p:cNvPr id="13" name="Text 11"/>
          <p:cNvSpPr txBox="1"/>
          <p:nvPr/>
        </p:nvSpPr>
        <p:spPr>
          <a:xfrm>
            <a:off x="6255868" y="3090672"/>
            <a:ext cx="2533574" cy="1097280"/>
          </a:xfrm>
          <a:prstGeom prst="rect">
            <a:avLst/>
          </a:prstGeom>
          <a:noFill/>
          <a:ln/>
        </p:spPr>
        <p:txBody>
          <a:bodyPr wrap="square" lIns="0" tIns="0" rIns="0" bIns="0" rtlCol="0" anchor="t"/>
          <a:lstStyle/>
          <a:p>
            <a:pPr indent="0" marL="0">
              <a:lnSpc>
                <a:spcPct val="110000"/>
              </a:lnSpc>
              <a:buNone/>
            </a:pPr>
            <a:r>
              <a:rPr lang="en-US" sz="1250" dirty="0">
                <a:solidFill>
                  <a:srgbClr val="555555"/>
                </a:solidFill>
                <a:latin typeface="Arial" pitchFamily="34" charset="0"/>
                <a:ea typeface="Arial" pitchFamily="34" charset="-122"/>
                <a:cs typeface="Arial" pitchFamily="34" charset="-120"/>
              </a:rPr>
              <a:t>Si todos llevan valija, Back‑to‑Front pasa de 21 a 46 minutos.</a:t>
            </a:r>
            <a:endParaRPr lang="en-US" sz="1250" dirty="0"/>
          </a:p>
        </p:txBody>
      </p:sp>
      <p:sp>
        <p:nvSpPr>
          <p:cNvPr id="14" name="Text 12"/>
          <p:cNvSpPr txBox="1"/>
          <p:nvPr/>
        </p:nvSpPr>
        <p:spPr>
          <a:xfrm>
            <a:off x="9109481" y="2011680"/>
            <a:ext cx="2533574" cy="685800"/>
          </a:xfrm>
          <a:prstGeom prst="rect">
            <a:avLst/>
          </a:prstGeom>
          <a:noFill/>
          <a:ln/>
        </p:spPr>
        <p:txBody>
          <a:bodyPr wrap="square" lIns="0" tIns="0" rIns="0" bIns="0" rtlCol="0" anchor="t"/>
          <a:lstStyle/>
          <a:p>
            <a:pPr indent="0" marL="0">
              <a:buNone/>
            </a:pPr>
            <a:r>
              <a:rPr lang="en-US" sz="3800" b="1" dirty="0">
                <a:solidFill>
                  <a:srgbClr val="1A1A1A"/>
                </a:solidFill>
                <a:latin typeface="Arial" pitchFamily="34" charset="0"/>
                <a:ea typeface="Arial" pitchFamily="34" charset="-122"/>
                <a:cs typeface="Arial" pitchFamily="34" charset="-120"/>
              </a:rPr>
              <a:t>USD 150</a:t>
            </a:r>
            <a:endParaRPr lang="en-US" sz="3800" dirty="0"/>
          </a:p>
        </p:txBody>
      </p:sp>
      <p:sp>
        <p:nvSpPr>
          <p:cNvPr id="15" name="Text 13"/>
          <p:cNvSpPr txBox="1"/>
          <p:nvPr/>
        </p:nvSpPr>
        <p:spPr>
          <a:xfrm>
            <a:off x="9109481" y="2743200"/>
            <a:ext cx="2533574"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No conviene vaciar asientos</a:t>
            </a:r>
            <a:endParaRPr lang="en-US" sz="1400" dirty="0"/>
          </a:p>
        </p:txBody>
      </p:sp>
      <p:sp>
        <p:nvSpPr>
          <p:cNvPr id="16" name="Text 14"/>
          <p:cNvSpPr txBox="1"/>
          <p:nvPr/>
        </p:nvSpPr>
        <p:spPr>
          <a:xfrm>
            <a:off x="9109481" y="3090672"/>
            <a:ext cx="2533574" cy="1097280"/>
          </a:xfrm>
          <a:prstGeom prst="rect">
            <a:avLst/>
          </a:prstGeom>
          <a:noFill/>
          <a:ln/>
        </p:spPr>
        <p:txBody>
          <a:bodyPr wrap="square" lIns="0" tIns="0" rIns="0" bIns="0" rtlCol="0" anchor="t"/>
          <a:lstStyle/>
          <a:p>
            <a:pPr indent="0" marL="0">
              <a:lnSpc>
                <a:spcPct val="110000"/>
              </a:lnSpc>
              <a:buNone/>
            </a:pPr>
            <a:r>
              <a:rPr lang="en-US" sz="1250" dirty="0">
                <a:solidFill>
                  <a:srgbClr val="555555"/>
                </a:solidFill>
                <a:latin typeface="Arial" pitchFamily="34" charset="0"/>
                <a:ea typeface="Arial" pitchFamily="34" charset="-122"/>
                <a:cs typeface="Arial" pitchFamily="34" charset="-120"/>
              </a:rPr>
              <a:t>Es lo que vale un asiento. El tiempo que se ahorra al dejarlo vacío vale entre USD 20 y 40.</a:t>
            </a:r>
            <a:endParaRPr lang="en-US" sz="1250" dirty="0"/>
          </a:p>
        </p:txBody>
      </p:sp>
      <p:sp>
        <p:nvSpPr>
          <p:cNvPr id="17" name="Shape 15"/>
          <p:cNvSpPr/>
          <p:nvPr/>
        </p:nvSpPr>
        <p:spPr>
          <a:xfrm>
            <a:off x="548640" y="4343400"/>
            <a:ext cx="11094415" cy="1325880"/>
          </a:xfrm>
          <a:prstGeom prst="rect">
            <a:avLst/>
          </a:prstGeom>
          <a:solidFill>
            <a:srgbClr val="EFEFEC"/>
          </a:solidFill>
          <a:ln/>
        </p:spPr>
      </p:sp>
      <p:sp>
        <p:nvSpPr>
          <p:cNvPr id="18" name="Text 16"/>
          <p:cNvSpPr txBox="1"/>
          <p:nvPr/>
        </p:nvSpPr>
        <p:spPr>
          <a:xfrm>
            <a:off x="822960" y="4553712"/>
            <a:ext cx="2743200"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Qué proponemos</a:t>
            </a:r>
            <a:endParaRPr lang="en-US" sz="1400" dirty="0"/>
          </a:p>
        </p:txBody>
      </p:sp>
      <p:sp>
        <p:nvSpPr>
          <p:cNvPr id="19" name="Text 17"/>
          <p:cNvSpPr txBox="1"/>
          <p:nvPr/>
        </p:nvSpPr>
        <p:spPr>
          <a:xfrm>
            <a:off x="822960" y="4919472"/>
            <a:ext cx="10545775" cy="640080"/>
          </a:xfrm>
          <a:prstGeom prst="rect">
            <a:avLst/>
          </a:prstGeom>
          <a:noFill/>
          <a:ln/>
        </p:spPr>
        <p:txBody>
          <a:bodyPr wrap="square" lIns="0" tIns="0" rIns="0" bIns="0" rtlCol="0" anchor="t"/>
          <a:lstStyle/>
          <a:p>
            <a:pPr indent="0" marL="0">
              <a:buNone/>
            </a:pPr>
            <a:r>
              <a:rPr lang="en-US" sz="1400" dirty="0">
                <a:solidFill>
                  <a:srgbClr val="555555"/>
                </a:solidFill>
                <a:latin typeface="Arial" pitchFamily="34" charset="0"/>
                <a:ea typeface="Arial" pitchFamily="34" charset="-122"/>
                <a:cs typeface="Arial" pitchFamily="34" charset="-120"/>
              </a:rPr>
              <a:t>Embarcar en dos grupos, primero ventanas y después pasillos, y trabajar sobre el carry-on. Llenar el avión y ordenarlo mejor rinde más que volar con asientos vacíos.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El problema</a:t>
            </a:r>
            <a:endParaRPr lang="en-US" sz="1200" dirty="0"/>
          </a:p>
        </p:txBody>
      </p:sp>
      <p:sp>
        <p:nvSpPr>
          <p:cNvPr id="3" name="Text 1"/>
          <p:cNvSpPr txBox="1"/>
          <p:nvPr/>
        </p:nvSpPr>
        <p:spPr>
          <a:xfrm>
            <a:off x="548640" y="603504"/>
            <a:ext cx="11094415" cy="914400"/>
          </a:xfrm>
          <a:prstGeom prst="rect">
            <a:avLst/>
          </a:prstGeom>
          <a:noFill/>
          <a:ln/>
        </p:spPr>
        <p:txBody>
          <a:bodyPr wrap="square" lIns="0" tIns="0" rIns="0" bIns="0" rtlCol="0" anchor="t"/>
          <a:lstStyle/>
          <a:p>
            <a:pPr indent="0" marL="0">
              <a:lnSpc>
                <a:spcPct val="100000"/>
              </a:lnSpc>
              <a:buNone/>
            </a:pPr>
            <a:r>
              <a:rPr lang="en-US" sz="2600" b="1" dirty="0">
                <a:solidFill>
                  <a:srgbClr val="1A1A1A"/>
                </a:solidFill>
                <a:latin typeface="Arial" pitchFamily="34" charset="0"/>
                <a:ea typeface="Arial" pitchFamily="34" charset="-122"/>
                <a:cs typeface="Arial" pitchFamily="34" charset="-120"/>
              </a:rPr>
              <a:t>Di Tella Flying Circus quiere saber qué sistema de embarque llena el avión más rápido</a:t>
            </a:r>
            <a:endParaRPr lang="en-US" sz="2600" dirty="0"/>
          </a:p>
        </p:txBody>
      </p:sp>
      <p:sp>
        <p:nvSpPr>
          <p:cNvPr id="4" name="Text 2"/>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3</a:t>
            </a:r>
            <a:endParaRPr lang="en-US" sz="1000" dirty="0"/>
          </a:p>
        </p:txBody>
      </p:sp>
      <p:sp>
        <p:nvSpPr>
          <p:cNvPr id="5" name="Text 3"/>
          <p:cNvSpPr txBox="1"/>
          <p:nvPr/>
        </p:nvSpPr>
        <p:spPr>
          <a:xfrm>
            <a:off x="548640" y="1737360"/>
            <a:ext cx="5318608" cy="32004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El avión</a:t>
            </a:r>
            <a:endParaRPr lang="en-US" sz="1500" dirty="0"/>
          </a:p>
        </p:txBody>
      </p:sp>
      <p:sp>
        <p:nvSpPr>
          <p:cNvPr id="6" name="Text 4"/>
          <p:cNvSpPr txBox="1"/>
          <p:nvPr/>
        </p:nvSpPr>
        <p:spPr>
          <a:xfrm>
            <a:off x="548640" y="2148840"/>
            <a:ext cx="5318608" cy="17373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555555"/>
                </a:solidFill>
                <a:latin typeface="Arial" pitchFamily="34" charset="0"/>
                <a:ea typeface="Arial" pitchFamily="34" charset="-122"/>
                <a:cs typeface="Arial" pitchFamily="34" charset="-120"/>
              </a:rPr>
              <a:t>25 filas de 4 asientos, sin asiento del medio</a:t>
            </a:r>
            <a:endParaRPr lang="en-US" sz="1400" dirty="0"/>
          </a:p>
          <a:p>
            <a:pPr marL="203200" indent="-203200">
              <a:spcAft>
                <a:spcPts val="800"/>
              </a:spcAft>
              <a:buSzPct val="100000"/>
              <a:buChar char="•"/>
            </a:pPr>
            <a:r>
              <a:rPr lang="en-US" sz="1400" dirty="0">
                <a:solidFill>
                  <a:srgbClr val="555555"/>
                </a:solidFill>
                <a:latin typeface="Arial" pitchFamily="34" charset="0"/>
                <a:ea typeface="Arial" pitchFamily="34" charset="-122"/>
                <a:cs typeface="Arial" pitchFamily="34" charset="-120"/>
              </a:rPr>
              <a:t>Un pasillo del ancho de una persona</a:t>
            </a:r>
            <a:endParaRPr lang="en-US" sz="1400" dirty="0"/>
          </a:p>
          <a:p>
            <a:pPr marL="203200" indent="-203200">
              <a:spcAft>
                <a:spcPts val="800"/>
              </a:spcAft>
              <a:buSzPct val="100000"/>
              <a:buChar char="•"/>
            </a:pPr>
            <a:r>
              <a:rPr lang="en-US" sz="1400" dirty="0">
                <a:solidFill>
                  <a:srgbClr val="555555"/>
                </a:solidFill>
                <a:latin typeface="Arial" pitchFamily="34" charset="0"/>
                <a:ea typeface="Arial" pitchFamily="34" charset="-122"/>
                <a:cs typeface="Arial" pitchFamily="34" charset="-120"/>
              </a:rPr>
              <a:t>Cada pasajero lleva carry-on con probabilidad p</a:t>
            </a:r>
            <a:endParaRPr lang="en-US" sz="1400" dirty="0"/>
          </a:p>
          <a:p>
            <a:pPr marL="203200" indent="-203200">
              <a:spcAft>
                <a:spcPts val="800"/>
              </a:spcAft>
              <a:buSzPct val="100000"/>
              <a:buChar char="•"/>
            </a:pPr>
            <a:r>
              <a:rPr lang="en-US" sz="1400" dirty="0">
                <a:solidFill>
                  <a:srgbClr val="555555"/>
                </a:solidFill>
                <a:latin typeface="Arial" pitchFamily="34" charset="0"/>
                <a:ea typeface="Arial" pitchFamily="34" charset="-122"/>
                <a:cs typeface="Arial" pitchFamily="34" charset="-120"/>
              </a:rPr>
              <a:t>El reloj corre en segundos</a:t>
            </a:r>
            <a:endParaRPr lang="en-US" sz="1400" dirty="0"/>
          </a:p>
        </p:txBody>
      </p:sp>
      <p:sp>
        <p:nvSpPr>
          <p:cNvPr id="7" name="Text 5"/>
          <p:cNvSpPr txBox="1"/>
          <p:nvPr/>
        </p:nvSpPr>
        <p:spPr>
          <a:xfrm>
            <a:off x="6324448" y="1737360"/>
            <a:ext cx="5318608" cy="32004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Qué nos preguntaron</a:t>
            </a:r>
            <a:endParaRPr lang="en-US" sz="1500" dirty="0"/>
          </a:p>
        </p:txBody>
      </p:sp>
      <p:sp>
        <p:nvSpPr>
          <p:cNvPr id="8" name="Text 6"/>
          <p:cNvSpPr txBox="1"/>
          <p:nvPr/>
        </p:nvSpPr>
        <p:spPr>
          <a:xfrm>
            <a:off x="6324448" y="2148840"/>
            <a:ext cx="5318608" cy="17373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555555"/>
                </a:solidFill>
                <a:latin typeface="Arial" pitchFamily="34" charset="0"/>
                <a:ea typeface="Arial" pitchFamily="34" charset="-122"/>
                <a:cs typeface="Arial" pitchFamily="34" charset="-120"/>
              </a:rPr>
              <a:t>¿Cuánto tarda en llenarse con cada política, y cuánto varía?</a:t>
            </a:r>
            <a:endParaRPr lang="en-US" sz="1400" dirty="0"/>
          </a:p>
          <a:p>
            <a:pPr marL="203200" indent="-203200">
              <a:spcAft>
                <a:spcPts val="800"/>
              </a:spcAft>
              <a:buSzPct val="100000"/>
              <a:buChar char="•"/>
            </a:pPr>
            <a:r>
              <a:rPr lang="en-US" sz="1400" dirty="0">
                <a:solidFill>
                  <a:srgbClr val="555555"/>
                </a:solidFill>
                <a:latin typeface="Arial" pitchFamily="34" charset="0"/>
                <a:ea typeface="Arial" pitchFamily="34" charset="-122"/>
                <a:cs typeface="Arial" pitchFamily="34" charset="-120"/>
              </a:rPr>
              <a:t>¿Qué cambia si todos llevan carry-on? ¿Y si no lleva nadie?</a:t>
            </a:r>
            <a:endParaRPr lang="en-US" sz="1400" dirty="0"/>
          </a:p>
          <a:p>
            <a:pPr marL="203200" indent="-203200">
              <a:spcAft>
                <a:spcPts val="800"/>
              </a:spcAft>
              <a:buSzPct val="100000"/>
              <a:buChar char="•"/>
            </a:pPr>
            <a:r>
              <a:rPr lang="en-US" sz="1400" dirty="0">
                <a:solidFill>
                  <a:srgbClr val="555555"/>
                </a:solidFill>
                <a:latin typeface="Arial" pitchFamily="34" charset="0"/>
                <a:ea typeface="Arial" pitchFamily="34" charset="-122"/>
                <a:cs typeface="Arial" pitchFamily="34" charset="-120"/>
              </a:rPr>
              <a:t>¿Cuánto cuesta una demora de 30 minutos?</a:t>
            </a:r>
            <a:endParaRPr lang="en-US" sz="1400" dirty="0"/>
          </a:p>
          <a:p>
            <a:pPr marL="203200" indent="-203200">
              <a:spcAft>
                <a:spcPts val="800"/>
              </a:spcAft>
              <a:buSzPct val="100000"/>
              <a:buChar char="•"/>
            </a:pPr>
            <a:r>
              <a:rPr lang="en-US" sz="1400" dirty="0">
                <a:solidFill>
                  <a:srgbClr val="555555"/>
                </a:solidFill>
                <a:latin typeface="Arial" pitchFamily="34" charset="0"/>
                <a:ea typeface="Arial" pitchFamily="34" charset="-122"/>
                <a:cs typeface="Arial" pitchFamily="34" charset="-120"/>
              </a:rPr>
              <a:t>¿Conviene dejar asientos vacíos para embarcar más rápido?</a:t>
            </a:r>
            <a:endParaRPr lang="en-US" sz="1400" dirty="0"/>
          </a:p>
        </p:txBody>
      </p:sp>
      <p:pic>
        <p:nvPicPr>
          <p:cNvPr id="9" name="Image 0" descr="C:\Users\busta\AppData\Local\Temp\claude\c--Users-busta-OneDrive-Documentos-Di-Tella-ACN-TP1-aviones\a3a2136c-d18f-4667-8d04-71bc7f747630\scratchpad\presentacion\avion.png">    </p:cNvPr>
          <p:cNvPicPr>
            <a:picLocks noChangeAspect="1"/>
          </p:cNvPicPr>
          <p:nvPr/>
        </p:nvPicPr>
        <p:blipFill>
          <a:blip r:embed="rId1"/>
          <a:stretch>
            <a:fillRect/>
          </a:stretch>
        </p:blipFill>
        <p:spPr>
          <a:xfrm>
            <a:off x="1484207" y="4023360"/>
            <a:ext cx="9223280" cy="2240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Modelo</a:t>
            </a:r>
            <a:endParaRPr lang="en-US" sz="1200" dirty="0"/>
          </a:p>
        </p:txBody>
      </p:sp>
      <p:sp>
        <p:nvSpPr>
          <p:cNvPr id="3" name="Text 1"/>
          <p:cNvSpPr txBox="1"/>
          <p:nvPr/>
        </p:nvSpPr>
        <p:spPr>
          <a:xfrm>
            <a:off x="548640" y="603504"/>
            <a:ext cx="11094415" cy="914400"/>
          </a:xfrm>
          <a:prstGeom prst="rect">
            <a:avLst/>
          </a:prstGeom>
          <a:noFill/>
          <a:ln/>
        </p:spPr>
        <p:txBody>
          <a:bodyPr wrap="square" lIns="0" tIns="0" rIns="0" bIns="0" rtlCol="0" anchor="t"/>
          <a:lstStyle/>
          <a:p>
            <a:pPr indent="0" marL="0">
              <a:lnSpc>
                <a:spcPct val="100000"/>
              </a:lnSpc>
              <a:buNone/>
            </a:pPr>
            <a:r>
              <a:rPr lang="en-US" sz="2600" b="1" dirty="0">
                <a:solidFill>
                  <a:srgbClr val="1A1A1A"/>
                </a:solidFill>
                <a:latin typeface="Arial" pitchFamily="34" charset="0"/>
                <a:ea typeface="Arial" pitchFamily="34" charset="-122"/>
                <a:cs typeface="Arial" pitchFamily="34" charset="-120"/>
              </a:rPr>
              <a:t>Cada pasajero sigue cinco reglas, con un reloj que avanza de a un segundo</a:t>
            </a:r>
            <a:endParaRPr lang="en-US" sz="2600" dirty="0"/>
          </a:p>
        </p:txBody>
      </p:sp>
      <p:sp>
        <p:nvSpPr>
          <p:cNvPr id="4" name="Text 2"/>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4</a:t>
            </a:r>
            <a:endParaRPr lang="en-US" sz="1000" dirty="0"/>
          </a:p>
        </p:txBody>
      </p:sp>
      <p:sp>
        <p:nvSpPr>
          <p:cNvPr id="5" name="Shape 3"/>
          <p:cNvSpPr/>
          <p:nvPr/>
        </p:nvSpPr>
        <p:spPr>
          <a:xfrm>
            <a:off x="548640" y="1783080"/>
            <a:ext cx="2072579" cy="2606040"/>
          </a:xfrm>
          <a:prstGeom prst="rect">
            <a:avLst/>
          </a:prstGeom>
          <a:solidFill>
            <a:srgbClr val="EFEFEC"/>
          </a:solidFill>
          <a:ln/>
        </p:spPr>
      </p:sp>
      <p:sp>
        <p:nvSpPr>
          <p:cNvPr id="6" name="Text 4"/>
          <p:cNvSpPr txBox="1"/>
          <p:nvPr/>
        </p:nvSpPr>
        <p:spPr>
          <a:xfrm>
            <a:off x="731520" y="1947672"/>
            <a:ext cx="914400" cy="411480"/>
          </a:xfrm>
          <a:prstGeom prst="rect">
            <a:avLst/>
          </a:prstGeom>
          <a:noFill/>
          <a:ln/>
        </p:spPr>
        <p:txBody>
          <a:bodyPr wrap="square" lIns="0" tIns="0" rIns="0" bIns="0" rtlCol="0" anchor="t"/>
          <a:lstStyle/>
          <a:p>
            <a:pPr indent="0" marL="0">
              <a:buNone/>
            </a:pPr>
            <a:r>
              <a:rPr lang="en-US" sz="2200" b="1" dirty="0">
                <a:solidFill>
                  <a:srgbClr val="8A8A8A"/>
                </a:solidFill>
                <a:latin typeface="Arial" pitchFamily="34" charset="0"/>
                <a:ea typeface="Arial" pitchFamily="34" charset="-122"/>
                <a:cs typeface="Arial" pitchFamily="34" charset="-120"/>
              </a:rPr>
              <a:t>1</a:t>
            </a:r>
            <a:endParaRPr lang="en-US" sz="2200" dirty="0"/>
          </a:p>
        </p:txBody>
      </p:sp>
      <p:sp>
        <p:nvSpPr>
          <p:cNvPr id="7" name="Text 5"/>
          <p:cNvSpPr txBox="1"/>
          <p:nvPr/>
        </p:nvSpPr>
        <p:spPr>
          <a:xfrm>
            <a:off x="731520" y="2377440"/>
            <a:ext cx="1706819" cy="32004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Entra</a:t>
            </a:r>
            <a:endParaRPr lang="en-US" sz="1500" dirty="0"/>
          </a:p>
        </p:txBody>
      </p:sp>
      <p:sp>
        <p:nvSpPr>
          <p:cNvPr id="8" name="Text 6"/>
          <p:cNvSpPr txBox="1"/>
          <p:nvPr/>
        </p:nvSpPr>
        <p:spPr>
          <a:xfrm>
            <a:off x="731520" y="2715768"/>
            <a:ext cx="1706819" cy="100584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Sube el próximo pasajero cuando la fila 1 del pasillo está libre. La política decide quién.</a:t>
            </a:r>
            <a:endParaRPr lang="en-US" sz="1200" dirty="0"/>
          </a:p>
        </p:txBody>
      </p:sp>
      <p:sp>
        <p:nvSpPr>
          <p:cNvPr id="9" name="Text 7"/>
          <p:cNvSpPr txBox="1"/>
          <p:nvPr/>
        </p:nvSpPr>
        <p:spPr>
          <a:xfrm>
            <a:off x="731520" y="3822192"/>
            <a:ext cx="1706819" cy="457200"/>
          </a:xfrm>
          <a:prstGeom prst="rect">
            <a:avLst/>
          </a:prstGeom>
          <a:noFill/>
          <a:ln/>
        </p:spPr>
        <p:txBody>
          <a:bodyPr wrap="square" lIns="0" tIns="0" rIns="0" bIns="0" rtlCol="0" anchor="b"/>
          <a:lstStyle/>
          <a:p>
            <a:pPr indent="0" marL="0">
              <a:buNone/>
            </a:pPr>
            <a:r>
              <a:rPr lang="en-US" sz="1200" b="1" dirty="0">
                <a:solidFill>
                  <a:srgbClr val="1A1A1A"/>
                </a:solidFill>
                <a:latin typeface="Arial" pitchFamily="34" charset="0"/>
                <a:ea typeface="Arial" pitchFamily="34" charset="-122"/>
                <a:cs typeface="Arial" pitchFamily="34" charset="-120"/>
              </a:rPr>
              <a:t>—</a:t>
            </a:r>
            <a:endParaRPr lang="en-US" sz="1200" dirty="0"/>
          </a:p>
        </p:txBody>
      </p:sp>
      <p:sp>
        <p:nvSpPr>
          <p:cNvPr id="10" name="Shape 8"/>
          <p:cNvSpPr/>
          <p:nvPr/>
        </p:nvSpPr>
        <p:spPr>
          <a:xfrm>
            <a:off x="2804099" y="1783080"/>
            <a:ext cx="2072579" cy="2606040"/>
          </a:xfrm>
          <a:prstGeom prst="rect">
            <a:avLst/>
          </a:prstGeom>
          <a:solidFill>
            <a:srgbClr val="EFEFEC"/>
          </a:solidFill>
          <a:ln/>
        </p:spPr>
      </p:sp>
      <p:sp>
        <p:nvSpPr>
          <p:cNvPr id="11" name="Text 9"/>
          <p:cNvSpPr txBox="1"/>
          <p:nvPr/>
        </p:nvSpPr>
        <p:spPr>
          <a:xfrm>
            <a:off x="2986979" y="1947672"/>
            <a:ext cx="914400" cy="411480"/>
          </a:xfrm>
          <a:prstGeom prst="rect">
            <a:avLst/>
          </a:prstGeom>
          <a:noFill/>
          <a:ln/>
        </p:spPr>
        <p:txBody>
          <a:bodyPr wrap="square" lIns="0" tIns="0" rIns="0" bIns="0" rtlCol="0" anchor="t"/>
          <a:lstStyle/>
          <a:p>
            <a:pPr indent="0" marL="0">
              <a:buNone/>
            </a:pPr>
            <a:r>
              <a:rPr lang="en-US" sz="2200" b="1" dirty="0">
                <a:solidFill>
                  <a:srgbClr val="8A8A8A"/>
                </a:solidFill>
                <a:latin typeface="Arial" pitchFamily="34" charset="0"/>
                <a:ea typeface="Arial" pitchFamily="34" charset="-122"/>
                <a:cs typeface="Arial" pitchFamily="34" charset="-120"/>
              </a:rPr>
              <a:t>2</a:t>
            </a:r>
            <a:endParaRPr lang="en-US" sz="2200" dirty="0"/>
          </a:p>
        </p:txBody>
      </p:sp>
      <p:sp>
        <p:nvSpPr>
          <p:cNvPr id="12" name="Text 10"/>
          <p:cNvSpPr txBox="1"/>
          <p:nvPr/>
        </p:nvSpPr>
        <p:spPr>
          <a:xfrm>
            <a:off x="2986979" y="2377440"/>
            <a:ext cx="1706819" cy="32004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Avanza</a:t>
            </a:r>
            <a:endParaRPr lang="en-US" sz="1500" dirty="0"/>
          </a:p>
        </p:txBody>
      </p:sp>
      <p:sp>
        <p:nvSpPr>
          <p:cNvPr id="13" name="Text 11"/>
          <p:cNvSpPr txBox="1"/>
          <p:nvPr/>
        </p:nvSpPr>
        <p:spPr>
          <a:xfrm>
            <a:off x="2986979" y="2715768"/>
            <a:ext cx="1706819" cy="100584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Pasa a la fila siguiente, si está libre.</a:t>
            </a:r>
            <a:endParaRPr lang="en-US" sz="1200" dirty="0"/>
          </a:p>
        </p:txBody>
      </p:sp>
      <p:sp>
        <p:nvSpPr>
          <p:cNvPr id="14" name="Text 12"/>
          <p:cNvSpPr txBox="1"/>
          <p:nvPr/>
        </p:nvSpPr>
        <p:spPr>
          <a:xfrm>
            <a:off x="2986979" y="3822192"/>
            <a:ext cx="1706819" cy="457200"/>
          </a:xfrm>
          <a:prstGeom prst="rect">
            <a:avLst/>
          </a:prstGeom>
          <a:noFill/>
          <a:ln/>
        </p:spPr>
        <p:txBody>
          <a:bodyPr wrap="square" lIns="0" tIns="0" rIns="0" bIns="0" rtlCol="0" anchor="b"/>
          <a:lstStyle/>
          <a:p>
            <a:pPr indent="0" marL="0">
              <a:buNone/>
            </a:pPr>
            <a:r>
              <a:rPr lang="en-US" sz="1200" b="1" dirty="0">
                <a:solidFill>
                  <a:srgbClr val="1A1A1A"/>
                </a:solidFill>
                <a:latin typeface="Arial" pitchFamily="34" charset="0"/>
                <a:ea typeface="Arial" pitchFamily="34" charset="-122"/>
                <a:cs typeface="Arial" pitchFamily="34" charset="-120"/>
              </a:rPr>
              <a:t>3 s por fila</a:t>
            </a:r>
            <a:endParaRPr lang="en-US" sz="1200" dirty="0"/>
          </a:p>
          <a:p>
            <a:pPr indent="0" marL="0">
              <a:buNone/>
            </a:pPr>
            <a:r>
              <a:rPr lang="en-US" sz="1200" b="1" dirty="0">
                <a:solidFill>
                  <a:srgbClr val="1A1A1A"/>
                </a:solidFill>
                <a:latin typeface="Arial" pitchFamily="34" charset="0"/>
                <a:ea typeface="Arial" pitchFamily="34" charset="-122"/>
                <a:cs typeface="Arial" pitchFamily="34" charset="-120"/>
              </a:rPr>
              <a:t>6 s con carry-on</a:t>
            </a:r>
            <a:endParaRPr lang="en-US" sz="1200" dirty="0"/>
          </a:p>
        </p:txBody>
      </p:sp>
      <p:sp>
        <p:nvSpPr>
          <p:cNvPr id="15" name="Shape 13"/>
          <p:cNvSpPr/>
          <p:nvPr/>
        </p:nvSpPr>
        <p:spPr>
          <a:xfrm>
            <a:off x="5059558" y="1783080"/>
            <a:ext cx="2072579" cy="2606040"/>
          </a:xfrm>
          <a:prstGeom prst="rect">
            <a:avLst/>
          </a:prstGeom>
          <a:solidFill>
            <a:srgbClr val="EFEFEC"/>
          </a:solidFill>
          <a:ln/>
        </p:spPr>
      </p:sp>
      <p:sp>
        <p:nvSpPr>
          <p:cNvPr id="16" name="Text 14"/>
          <p:cNvSpPr txBox="1"/>
          <p:nvPr/>
        </p:nvSpPr>
        <p:spPr>
          <a:xfrm>
            <a:off x="5242438" y="1947672"/>
            <a:ext cx="914400" cy="411480"/>
          </a:xfrm>
          <a:prstGeom prst="rect">
            <a:avLst/>
          </a:prstGeom>
          <a:noFill/>
          <a:ln/>
        </p:spPr>
        <p:txBody>
          <a:bodyPr wrap="square" lIns="0" tIns="0" rIns="0" bIns="0" rtlCol="0" anchor="t"/>
          <a:lstStyle/>
          <a:p>
            <a:pPr indent="0" marL="0">
              <a:buNone/>
            </a:pPr>
            <a:r>
              <a:rPr lang="en-US" sz="2200" b="1" dirty="0">
                <a:solidFill>
                  <a:srgbClr val="8A8A8A"/>
                </a:solidFill>
                <a:latin typeface="Arial" pitchFamily="34" charset="0"/>
                <a:ea typeface="Arial" pitchFamily="34" charset="-122"/>
                <a:cs typeface="Arial" pitchFamily="34" charset="-120"/>
              </a:rPr>
              <a:t>3</a:t>
            </a:r>
            <a:endParaRPr lang="en-US" sz="2200" dirty="0"/>
          </a:p>
        </p:txBody>
      </p:sp>
      <p:sp>
        <p:nvSpPr>
          <p:cNvPr id="17" name="Text 15"/>
          <p:cNvSpPr txBox="1"/>
          <p:nvPr/>
        </p:nvSpPr>
        <p:spPr>
          <a:xfrm>
            <a:off x="5242438" y="2377440"/>
            <a:ext cx="1706819" cy="32004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Espera</a:t>
            </a:r>
            <a:endParaRPr lang="en-US" sz="1500" dirty="0"/>
          </a:p>
        </p:txBody>
      </p:sp>
      <p:sp>
        <p:nvSpPr>
          <p:cNvPr id="18" name="Text 16"/>
          <p:cNvSpPr txBox="1"/>
          <p:nvPr/>
        </p:nvSpPr>
        <p:spPr>
          <a:xfrm>
            <a:off x="5242438" y="2715768"/>
            <a:ext cx="1706819" cy="100584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Si la fila de adelante está ocupada, se queda y vuelve a mirar.</a:t>
            </a:r>
            <a:endParaRPr lang="en-US" sz="1200" dirty="0"/>
          </a:p>
        </p:txBody>
      </p:sp>
      <p:sp>
        <p:nvSpPr>
          <p:cNvPr id="19" name="Text 17"/>
          <p:cNvSpPr txBox="1"/>
          <p:nvPr/>
        </p:nvSpPr>
        <p:spPr>
          <a:xfrm>
            <a:off x="5242438" y="3822192"/>
            <a:ext cx="1706819" cy="457200"/>
          </a:xfrm>
          <a:prstGeom prst="rect">
            <a:avLst/>
          </a:prstGeom>
          <a:noFill/>
          <a:ln/>
        </p:spPr>
        <p:txBody>
          <a:bodyPr wrap="square" lIns="0" tIns="0" rIns="0" bIns="0" rtlCol="0" anchor="b"/>
          <a:lstStyle/>
          <a:p>
            <a:pPr indent="0" marL="0">
              <a:buNone/>
            </a:pPr>
            <a:r>
              <a:rPr lang="en-US" sz="1200" b="1" dirty="0">
                <a:solidFill>
                  <a:srgbClr val="1A1A1A"/>
                </a:solidFill>
                <a:latin typeface="Arial" pitchFamily="34" charset="0"/>
                <a:ea typeface="Arial" pitchFamily="34" charset="-122"/>
                <a:cs typeface="Arial" pitchFamily="34" charset="-120"/>
              </a:rPr>
              <a:t>cada 3 s</a:t>
            </a:r>
            <a:endParaRPr lang="en-US" sz="1200" dirty="0"/>
          </a:p>
        </p:txBody>
      </p:sp>
      <p:sp>
        <p:nvSpPr>
          <p:cNvPr id="20" name="Shape 18"/>
          <p:cNvSpPr/>
          <p:nvPr/>
        </p:nvSpPr>
        <p:spPr>
          <a:xfrm>
            <a:off x="7315017" y="1783080"/>
            <a:ext cx="2072579" cy="2606040"/>
          </a:xfrm>
          <a:prstGeom prst="rect">
            <a:avLst/>
          </a:prstGeom>
          <a:solidFill>
            <a:srgbClr val="EFEFEC"/>
          </a:solidFill>
          <a:ln/>
        </p:spPr>
      </p:sp>
      <p:sp>
        <p:nvSpPr>
          <p:cNvPr id="21" name="Text 19"/>
          <p:cNvSpPr txBox="1"/>
          <p:nvPr/>
        </p:nvSpPr>
        <p:spPr>
          <a:xfrm>
            <a:off x="7497897" y="1947672"/>
            <a:ext cx="914400" cy="411480"/>
          </a:xfrm>
          <a:prstGeom prst="rect">
            <a:avLst/>
          </a:prstGeom>
          <a:noFill/>
          <a:ln/>
        </p:spPr>
        <p:txBody>
          <a:bodyPr wrap="square" lIns="0" tIns="0" rIns="0" bIns="0" rtlCol="0" anchor="t"/>
          <a:lstStyle/>
          <a:p>
            <a:pPr indent="0" marL="0">
              <a:buNone/>
            </a:pPr>
            <a:r>
              <a:rPr lang="en-US" sz="2200" b="1" dirty="0">
                <a:solidFill>
                  <a:srgbClr val="8A8A8A"/>
                </a:solidFill>
                <a:latin typeface="Arial" pitchFamily="34" charset="0"/>
                <a:ea typeface="Arial" pitchFamily="34" charset="-122"/>
                <a:cs typeface="Arial" pitchFamily="34" charset="-120"/>
              </a:rPr>
              <a:t>4</a:t>
            </a:r>
            <a:endParaRPr lang="en-US" sz="2200" dirty="0"/>
          </a:p>
        </p:txBody>
      </p:sp>
      <p:sp>
        <p:nvSpPr>
          <p:cNvPr id="22" name="Text 20"/>
          <p:cNvSpPr txBox="1"/>
          <p:nvPr/>
        </p:nvSpPr>
        <p:spPr>
          <a:xfrm>
            <a:off x="7497897" y="2377440"/>
            <a:ext cx="1706819" cy="32004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Guarda</a:t>
            </a:r>
            <a:endParaRPr lang="en-US" sz="1500" dirty="0"/>
          </a:p>
        </p:txBody>
      </p:sp>
      <p:sp>
        <p:nvSpPr>
          <p:cNvPr id="23" name="Text 21"/>
          <p:cNvSpPr txBox="1"/>
          <p:nvPr/>
        </p:nvSpPr>
        <p:spPr>
          <a:xfrm>
            <a:off x="7497897" y="2715768"/>
            <a:ext cx="1706819" cy="100584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En su fila guarda el carry-on, ocupando el pasillo mientras tanto.</a:t>
            </a:r>
            <a:endParaRPr lang="en-US" sz="1200" dirty="0"/>
          </a:p>
        </p:txBody>
      </p:sp>
      <p:sp>
        <p:nvSpPr>
          <p:cNvPr id="24" name="Text 22"/>
          <p:cNvSpPr txBox="1"/>
          <p:nvPr/>
        </p:nvSpPr>
        <p:spPr>
          <a:xfrm>
            <a:off x="7497897" y="3822192"/>
            <a:ext cx="1706819" cy="457200"/>
          </a:xfrm>
          <a:prstGeom prst="rect">
            <a:avLst/>
          </a:prstGeom>
          <a:noFill/>
          <a:ln/>
        </p:spPr>
        <p:txBody>
          <a:bodyPr wrap="square" lIns="0" tIns="0" rIns="0" bIns="0" rtlCol="0" anchor="b"/>
          <a:lstStyle/>
          <a:p>
            <a:pPr indent="0" marL="0">
              <a:buNone/>
            </a:pPr>
            <a:r>
              <a:rPr lang="en-US" sz="1200" b="1" dirty="0">
                <a:solidFill>
                  <a:srgbClr val="1A1A1A"/>
                </a:solidFill>
                <a:latin typeface="Arial" pitchFamily="34" charset="0"/>
                <a:ea typeface="Arial" pitchFamily="34" charset="-122"/>
                <a:cs typeface="Arial" pitchFamily="34" charset="-120"/>
              </a:rPr>
              <a:t>7 a 14 s</a:t>
            </a:r>
            <a:endParaRPr lang="en-US" sz="1200" dirty="0"/>
          </a:p>
        </p:txBody>
      </p:sp>
      <p:sp>
        <p:nvSpPr>
          <p:cNvPr id="25" name="Shape 23"/>
          <p:cNvSpPr/>
          <p:nvPr/>
        </p:nvSpPr>
        <p:spPr>
          <a:xfrm>
            <a:off x="9570476" y="1783080"/>
            <a:ext cx="2072579" cy="2606040"/>
          </a:xfrm>
          <a:prstGeom prst="rect">
            <a:avLst/>
          </a:prstGeom>
          <a:solidFill>
            <a:srgbClr val="EFEFEC"/>
          </a:solidFill>
          <a:ln/>
        </p:spPr>
      </p:sp>
      <p:sp>
        <p:nvSpPr>
          <p:cNvPr id="26" name="Text 24"/>
          <p:cNvSpPr txBox="1"/>
          <p:nvPr/>
        </p:nvSpPr>
        <p:spPr>
          <a:xfrm>
            <a:off x="9753356" y="1947672"/>
            <a:ext cx="914400" cy="411480"/>
          </a:xfrm>
          <a:prstGeom prst="rect">
            <a:avLst/>
          </a:prstGeom>
          <a:noFill/>
          <a:ln/>
        </p:spPr>
        <p:txBody>
          <a:bodyPr wrap="square" lIns="0" tIns="0" rIns="0" bIns="0" rtlCol="0" anchor="t"/>
          <a:lstStyle/>
          <a:p>
            <a:pPr indent="0" marL="0">
              <a:buNone/>
            </a:pPr>
            <a:r>
              <a:rPr lang="en-US" sz="2200" b="1" dirty="0">
                <a:solidFill>
                  <a:srgbClr val="8A8A8A"/>
                </a:solidFill>
                <a:latin typeface="Arial" pitchFamily="34" charset="0"/>
                <a:ea typeface="Arial" pitchFamily="34" charset="-122"/>
                <a:cs typeface="Arial" pitchFamily="34" charset="-120"/>
              </a:rPr>
              <a:t>5</a:t>
            </a:r>
            <a:endParaRPr lang="en-US" sz="2200" dirty="0"/>
          </a:p>
        </p:txBody>
      </p:sp>
      <p:sp>
        <p:nvSpPr>
          <p:cNvPr id="27" name="Text 25"/>
          <p:cNvSpPr txBox="1"/>
          <p:nvPr/>
        </p:nvSpPr>
        <p:spPr>
          <a:xfrm>
            <a:off x="9753356" y="2377440"/>
            <a:ext cx="1706819" cy="32004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Se sienta</a:t>
            </a:r>
            <a:endParaRPr lang="en-US" sz="1500" dirty="0"/>
          </a:p>
        </p:txBody>
      </p:sp>
      <p:sp>
        <p:nvSpPr>
          <p:cNvPr id="28" name="Text 26"/>
          <p:cNvSpPr txBox="1"/>
          <p:nvPr/>
        </p:nvSpPr>
        <p:spPr>
          <a:xfrm>
            <a:off x="9753356" y="2715768"/>
            <a:ext cx="1706819" cy="100584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Entra a su asiento. Si alguien sentado le tapa el paso, se levanta y lo deja pasar.</a:t>
            </a:r>
            <a:endParaRPr lang="en-US" sz="1200" dirty="0"/>
          </a:p>
        </p:txBody>
      </p:sp>
      <p:sp>
        <p:nvSpPr>
          <p:cNvPr id="29" name="Text 27"/>
          <p:cNvSpPr txBox="1"/>
          <p:nvPr/>
        </p:nvSpPr>
        <p:spPr>
          <a:xfrm>
            <a:off x="9753356" y="3822192"/>
            <a:ext cx="1706819" cy="457200"/>
          </a:xfrm>
          <a:prstGeom prst="rect">
            <a:avLst/>
          </a:prstGeom>
          <a:noFill/>
          <a:ln/>
        </p:spPr>
        <p:txBody>
          <a:bodyPr wrap="square" lIns="0" tIns="0" rIns="0" bIns="0" rtlCol="0" anchor="b"/>
          <a:lstStyle/>
          <a:p>
            <a:pPr indent="0" marL="0">
              <a:buNone/>
            </a:pPr>
            <a:r>
              <a:rPr lang="en-US" sz="1200" b="1" dirty="0">
                <a:solidFill>
                  <a:srgbClr val="1A1A1A"/>
                </a:solidFill>
                <a:latin typeface="Arial" pitchFamily="34" charset="0"/>
                <a:ea typeface="Arial" pitchFamily="34" charset="-122"/>
                <a:cs typeface="Arial" pitchFamily="34" charset="-120"/>
              </a:rPr>
              <a:t>5 s</a:t>
            </a:r>
            <a:endParaRPr lang="en-US" sz="1200" dirty="0"/>
          </a:p>
          <a:p>
            <a:pPr indent="0" marL="0">
              <a:buNone/>
            </a:pPr>
            <a:r>
              <a:rPr lang="en-US" sz="1200" b="1" dirty="0">
                <a:solidFill>
                  <a:srgbClr val="1A1A1A"/>
                </a:solidFill>
                <a:latin typeface="Arial" pitchFamily="34" charset="0"/>
                <a:ea typeface="Arial" pitchFamily="34" charset="-122"/>
                <a:cs typeface="Arial" pitchFamily="34" charset="-120"/>
              </a:rPr>
              <a:t>20 a 25 s si hay que levantarse</a:t>
            </a:r>
            <a:endParaRPr lang="en-US" sz="1200" dirty="0"/>
          </a:p>
        </p:txBody>
      </p:sp>
      <p:sp>
        <p:nvSpPr>
          <p:cNvPr id="30" name="Text 28"/>
          <p:cNvSpPr txBox="1"/>
          <p:nvPr/>
        </p:nvSpPr>
        <p:spPr>
          <a:xfrm>
            <a:off x="548640" y="4709160"/>
            <a:ext cx="5318608"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Supuesto clave</a:t>
            </a:r>
            <a:endParaRPr lang="en-US" sz="1400" dirty="0"/>
          </a:p>
        </p:txBody>
      </p:sp>
      <p:sp>
        <p:nvSpPr>
          <p:cNvPr id="31" name="Text 29"/>
          <p:cNvSpPr txBox="1"/>
          <p:nvPr/>
        </p:nvSpPr>
        <p:spPr>
          <a:xfrm>
            <a:off x="548640" y="5056632"/>
            <a:ext cx="5318608" cy="1097280"/>
          </a:xfrm>
          <a:prstGeom prst="rect">
            <a:avLst/>
          </a:prstGeom>
          <a:noFill/>
          <a:ln/>
        </p:spPr>
        <p:txBody>
          <a:bodyPr wrap="square" lIns="0" tIns="0" rIns="0" bIns="0" rtlCol="0" anchor="t"/>
          <a:lstStyle/>
          <a:p>
            <a:pPr indent="0" marL="0">
              <a:buNone/>
            </a:pPr>
            <a:r>
              <a:rPr lang="en-US" sz="1300" dirty="0">
                <a:solidFill>
                  <a:srgbClr val="555555"/>
                </a:solidFill>
                <a:latin typeface="Arial" pitchFamily="34" charset="0"/>
                <a:ea typeface="Arial" pitchFamily="34" charset="-122"/>
                <a:cs typeface="Arial" pitchFamily="34" charset="-120"/>
              </a:rPr>
              <a:t>No limitamos cuántos pasajeros hay adentro a la vez: el propio pasillo regula el flujo. Con un tope artificial, el cuello de botella pasa a ser la puerta y las políticas dan casi lo mismo.</a:t>
            </a:r>
            <a:endParaRPr lang="en-US" sz="1300" dirty="0"/>
          </a:p>
        </p:txBody>
      </p:sp>
      <p:sp>
        <p:nvSpPr>
          <p:cNvPr id="32" name="Text 30"/>
          <p:cNvSpPr txBox="1"/>
          <p:nvPr/>
        </p:nvSpPr>
        <p:spPr>
          <a:xfrm>
            <a:off x="6324448" y="4709160"/>
            <a:ext cx="5318608"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Qué medimos</a:t>
            </a:r>
            <a:endParaRPr lang="en-US" sz="1400" dirty="0"/>
          </a:p>
        </p:txBody>
      </p:sp>
      <p:sp>
        <p:nvSpPr>
          <p:cNvPr id="33" name="Text 31"/>
          <p:cNvSpPr txBox="1"/>
          <p:nvPr/>
        </p:nvSpPr>
        <p:spPr>
          <a:xfrm>
            <a:off x="6324448" y="5056632"/>
            <a:ext cx="5318608" cy="1097280"/>
          </a:xfrm>
          <a:prstGeom prst="rect">
            <a:avLst/>
          </a:prstGeom>
          <a:noFill/>
          <a:ln/>
        </p:spPr>
        <p:txBody>
          <a:bodyPr wrap="square" lIns="0" tIns="0" rIns="0" bIns="0" rtlCol="0" anchor="t"/>
          <a:lstStyle/>
          <a:p>
            <a:pPr indent="0" marL="0">
              <a:buNone/>
            </a:pPr>
            <a:r>
              <a:rPr lang="en-US" sz="1300" dirty="0">
                <a:solidFill>
                  <a:srgbClr val="555555"/>
                </a:solidFill>
                <a:latin typeface="Arial" pitchFamily="34" charset="0"/>
                <a:ea typeface="Arial" pitchFamily="34" charset="-122"/>
                <a:cs typeface="Arial" pitchFamily="34" charset="-120"/>
              </a:rPr>
              <a:t>El tiempo de llenado: desde que sube el primer pasajero hasta que se sienta el último. Cada política sólo cambia el orden en que sube la gente; las reglas son las mismas para todas.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Parámetros</a:t>
            </a:r>
            <a:endParaRPr lang="en-US" sz="1200" dirty="0"/>
          </a:p>
        </p:txBody>
      </p:sp>
      <p:sp>
        <p:nvSpPr>
          <p:cNvPr id="3" name="Text 1"/>
          <p:cNvSpPr txBox="1"/>
          <p:nvPr/>
        </p:nvSpPr>
        <p:spPr>
          <a:xfrm>
            <a:off x="548640" y="603504"/>
            <a:ext cx="11094415" cy="914400"/>
          </a:xfrm>
          <a:prstGeom prst="rect">
            <a:avLst/>
          </a:prstGeom>
          <a:noFill/>
          <a:ln/>
        </p:spPr>
        <p:txBody>
          <a:bodyPr wrap="square" lIns="0" tIns="0" rIns="0" bIns="0" rtlCol="0" anchor="t"/>
          <a:lstStyle/>
          <a:p>
            <a:pPr indent="0" marL="0">
              <a:lnSpc>
                <a:spcPct val="100000"/>
              </a:lnSpc>
              <a:buNone/>
            </a:pPr>
            <a:r>
              <a:rPr lang="en-US" sz="2600" b="1" dirty="0">
                <a:solidFill>
                  <a:srgbClr val="1A1A1A"/>
                </a:solidFill>
                <a:latin typeface="Arial" pitchFamily="34" charset="0"/>
                <a:ea typeface="Arial" pitchFamily="34" charset="-122"/>
                <a:cs typeface="Arial" pitchFamily="34" charset="-120"/>
              </a:rPr>
              <a:t>Los tiempos del enunciado más tres estimaciones propias</a:t>
            </a:r>
            <a:endParaRPr lang="en-US" sz="2600" dirty="0"/>
          </a:p>
        </p:txBody>
      </p:sp>
      <p:sp>
        <p:nvSpPr>
          <p:cNvPr id="4" name="Text 2"/>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3931920"/>
                <a:gridCol w="3291840"/>
                <a:gridCol w="3840480"/>
              </a:tblGrid>
              <a:tr h="438912">
                <a:tc>
                  <a:txBody>
                    <a:bodyPr/>
                    <a:lstStyle/>
                    <a:p>
                      <a:pPr algn="l" indent="0" marL="0">
                        <a:buNone/>
                      </a:pPr>
                      <a:r>
                        <a:rPr lang="en-US" sz="1200" b="1" dirty="0">
                          <a:solidFill>
                            <a:srgbClr val="1A1A1A"/>
                          </a:solidFill>
                          <a:latin typeface="Arial" pitchFamily="34" charset="0"/>
                          <a:ea typeface="Arial" pitchFamily="34" charset="-122"/>
                          <a:cs typeface="Arial" pitchFamily="34" charset="-120"/>
                        </a:rPr>
                        <a:t>Parámetro</a:t>
                      </a:r>
                      <a:endParaRPr lang="en-US" sz="12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solidFill>
                      <a:srgbClr val="FCFCFB"/>
                    </a:solidFill>
                  </a:tcPr>
                </a:tc>
                <a:tc>
                  <a:txBody>
                    <a:bodyPr/>
                    <a:lstStyle/>
                    <a:p>
                      <a:pPr algn="l" indent="0" marL="0">
                        <a:buNone/>
                      </a:pPr>
                      <a:r>
                        <a:rPr lang="en-US" sz="1200" b="1" dirty="0">
                          <a:solidFill>
                            <a:srgbClr val="1A1A1A"/>
                          </a:solidFill>
                          <a:latin typeface="Arial" pitchFamily="34" charset="0"/>
                          <a:ea typeface="Arial" pitchFamily="34" charset="-122"/>
                          <a:cs typeface="Arial" pitchFamily="34" charset="-120"/>
                        </a:rPr>
                        <a:t>Valor</a:t>
                      </a:r>
                      <a:endParaRPr lang="en-US" sz="12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solidFill>
                      <a:srgbClr val="FCFCFB"/>
                    </a:solidFill>
                  </a:tcPr>
                </a:tc>
                <a:tc>
                  <a:txBody>
                    <a:bodyPr/>
                    <a:lstStyle/>
                    <a:p>
                      <a:pPr algn="l" indent="0" marL="0">
                        <a:buNone/>
                      </a:pPr>
                      <a:r>
                        <a:rPr lang="en-US" sz="1200" b="1" dirty="0">
                          <a:solidFill>
                            <a:srgbClr val="1A1A1A"/>
                          </a:solidFill>
                          <a:latin typeface="Arial" pitchFamily="34" charset="0"/>
                          <a:ea typeface="Arial" pitchFamily="34" charset="-122"/>
                          <a:cs typeface="Arial" pitchFamily="34" charset="-120"/>
                        </a:rPr>
                        <a:t>Origen</a:t>
                      </a:r>
                      <a:endParaRPr lang="en-US" sz="12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solidFill>
                      <a:srgbClr val="FCFCFB"/>
                    </a:solidFill>
                  </a:tcPr>
                </a:tc>
              </a:tr>
              <a:tr h="438912">
                <a:tc>
                  <a:txBody>
                    <a:bodyPr/>
                    <a:lstStyle/>
                    <a:p>
                      <a:pPr algn="l" indent="0" marL="0">
                        <a:buNone/>
                      </a:pPr>
                      <a:r>
                        <a:rPr lang="en-US" sz="1300" dirty="0">
                          <a:solidFill>
                            <a:srgbClr val="1A1A1A"/>
                          </a:solidFill>
                          <a:latin typeface="Arial" pitchFamily="34" charset="0"/>
                          <a:ea typeface="Arial" pitchFamily="34" charset="-122"/>
                          <a:cs typeface="Arial" pitchFamily="34" charset="-120"/>
                        </a:rPr>
                        <a:t>Avanzar una fila</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3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Enunciado</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r h="438912">
                <a:tc>
                  <a:txBody>
                    <a:bodyPr/>
                    <a:lstStyle/>
                    <a:p>
                      <a:pPr algn="l" indent="0" marL="0">
                        <a:buNone/>
                      </a:pPr>
                      <a:r>
                        <a:rPr lang="en-US" sz="1300" dirty="0">
                          <a:solidFill>
                            <a:srgbClr val="1A1A1A"/>
                          </a:solidFill>
                          <a:latin typeface="Arial" pitchFamily="34" charset="0"/>
                          <a:ea typeface="Arial" pitchFamily="34" charset="-122"/>
                          <a:cs typeface="Arial" pitchFamily="34" charset="-120"/>
                        </a:rPr>
                        <a:t>Avanzar una fila con carry-on</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6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Enunciado</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r h="438912">
                <a:tc>
                  <a:txBody>
                    <a:bodyPr/>
                    <a:lstStyle/>
                    <a:p>
                      <a:pPr algn="l" indent="0" marL="0">
                        <a:buNone/>
                      </a:pPr>
                      <a:r>
                        <a:rPr lang="en-US" sz="1300" dirty="0">
                          <a:solidFill>
                            <a:srgbClr val="1A1A1A"/>
                          </a:solidFill>
                          <a:latin typeface="Arial" pitchFamily="34" charset="0"/>
                          <a:ea typeface="Arial" pitchFamily="34" charset="-122"/>
                          <a:cs typeface="Arial" pitchFamily="34" charset="-120"/>
                        </a:rPr>
                        <a:t>Guardar el carry-on</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7 a 14 s, uniforme</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Estimación del grupo</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r h="438912">
                <a:tc>
                  <a:txBody>
                    <a:bodyPr/>
                    <a:lstStyle/>
                    <a:p>
                      <a:pPr algn="l" indent="0" marL="0">
                        <a:buNone/>
                      </a:pPr>
                      <a:r>
                        <a:rPr lang="en-US" sz="1300" dirty="0">
                          <a:solidFill>
                            <a:srgbClr val="1A1A1A"/>
                          </a:solidFill>
                          <a:latin typeface="Arial" pitchFamily="34" charset="0"/>
                          <a:ea typeface="Arial" pitchFamily="34" charset="-122"/>
                          <a:cs typeface="Arial" pitchFamily="34" charset="-120"/>
                        </a:rPr>
                        <a:t>Sentarse con el camino libre</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5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Estimación del grupo</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r h="438912">
                <a:tc>
                  <a:txBody>
                    <a:bodyPr/>
                    <a:lstStyle/>
                    <a:p>
                      <a:pPr algn="l" indent="0" marL="0">
                        <a:buNone/>
                      </a:pPr>
                      <a:r>
                        <a:rPr lang="en-US" sz="1300" dirty="0">
                          <a:solidFill>
                            <a:srgbClr val="1A1A1A"/>
                          </a:solidFill>
                          <a:latin typeface="Arial" pitchFamily="34" charset="0"/>
                          <a:ea typeface="Arial" pitchFamily="34" charset="-122"/>
                          <a:cs typeface="Arial" pitchFamily="34" charset="-120"/>
                        </a:rPr>
                        <a:t>Levantarse y dejar pasar</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20 a 25 s, uniforme</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Estimación del grupo</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r h="438912">
                <a:tc>
                  <a:txBody>
                    <a:bodyPr/>
                    <a:lstStyle/>
                    <a:p>
                      <a:pPr algn="l" indent="0" marL="0">
                        <a:buNone/>
                      </a:pPr>
                      <a:r>
                        <a:rPr lang="en-US" sz="1300" dirty="0">
                          <a:solidFill>
                            <a:srgbClr val="1A1A1A"/>
                          </a:solidFill>
                          <a:latin typeface="Arial" pitchFamily="34" charset="0"/>
                          <a:ea typeface="Arial" pitchFamily="34" charset="-122"/>
                          <a:cs typeface="Arial" pitchFamily="34" charset="-120"/>
                        </a:rPr>
                        <a:t>Probabilidad de carry-on (p)</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0,5 · barrida de 0 a 1</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Escenario base</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r h="438912">
                <a:tc>
                  <a:txBody>
                    <a:bodyPr/>
                    <a:lstStyle/>
                    <a:p>
                      <a:pPr algn="l" indent="0" marL="0">
                        <a:buNone/>
                      </a:pPr>
                      <a:r>
                        <a:rPr lang="en-US" sz="1300" dirty="0">
                          <a:solidFill>
                            <a:srgbClr val="1A1A1A"/>
                          </a:solidFill>
                          <a:latin typeface="Arial" pitchFamily="34" charset="0"/>
                          <a:ea typeface="Arial" pitchFamily="34" charset="-122"/>
                          <a:cs typeface="Arial" pitchFamily="34" charset="-120"/>
                        </a:rPr>
                        <a:t>Costo de la demora</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USD 85 por minuto</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Estimación del grupo</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r h="438912">
                <a:tc>
                  <a:txBody>
                    <a:bodyPr/>
                    <a:lstStyle/>
                    <a:p>
                      <a:pPr algn="l" indent="0" marL="0">
                        <a:buNone/>
                      </a:pPr>
                      <a:r>
                        <a:rPr lang="en-US" sz="1300" dirty="0">
                          <a:solidFill>
                            <a:srgbClr val="1A1A1A"/>
                          </a:solidFill>
                          <a:latin typeface="Arial" pitchFamily="34" charset="0"/>
                          <a:ea typeface="Arial" pitchFamily="34" charset="-122"/>
                          <a:cs typeface="Arial" pitchFamily="34" charset="-120"/>
                        </a:rPr>
                        <a:t>Corridas por escenario</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1.000</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l" indent="0" marL="0">
                        <a:buNone/>
                      </a:pPr>
                      <a:r>
                        <a:rPr lang="en-US" sz="1300" dirty="0">
                          <a:solidFill>
                            <a:srgbClr val="555555"/>
                          </a:solidFill>
                          <a:latin typeface="Arial" pitchFamily="34" charset="0"/>
                          <a:ea typeface="Arial" pitchFamily="34" charset="-122"/>
                          <a:cs typeface="Arial" pitchFamily="34" charset="-120"/>
                        </a:rPr>
                        <a:t>Error de la media menor a 3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bl>
          </a:graphicData>
        </a:graphic>
      </p:graphicFrame>
      <p:sp>
        <p:nvSpPr>
          <p:cNvPr id="6" name="Text 3"/>
          <p:cNvSpPr txBox="1"/>
          <p:nvPr/>
        </p:nvSpPr>
        <p:spPr>
          <a:xfrm>
            <a:off x="548640" y="5532120"/>
            <a:ext cx="11094415" cy="32004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Las estimaciones del grupo salen de observación propia y de videos de embarques reales.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Implementación</a:t>
            </a:r>
            <a:endParaRPr lang="en-US" sz="1200" dirty="0"/>
          </a:p>
        </p:txBody>
      </p:sp>
      <p:sp>
        <p:nvSpPr>
          <p:cNvPr id="3" name="Text 1"/>
          <p:cNvSpPr txBox="1"/>
          <p:nvPr/>
        </p:nvSpPr>
        <p:spPr>
          <a:xfrm>
            <a:off x="548640" y="603504"/>
            <a:ext cx="11094415" cy="914400"/>
          </a:xfrm>
          <a:prstGeom prst="rect">
            <a:avLst/>
          </a:prstGeom>
          <a:noFill/>
          <a:ln/>
        </p:spPr>
        <p:txBody>
          <a:bodyPr wrap="square" lIns="0" tIns="0" rIns="0" bIns="0" rtlCol="0" anchor="t"/>
          <a:lstStyle/>
          <a:p>
            <a:pPr indent="0" marL="0">
              <a:lnSpc>
                <a:spcPct val="100000"/>
              </a:lnSpc>
              <a:buNone/>
            </a:pPr>
            <a:r>
              <a:rPr lang="en-US" sz="2600" b="1" dirty="0">
                <a:solidFill>
                  <a:srgbClr val="1A1A1A"/>
                </a:solidFill>
                <a:latin typeface="Arial" pitchFamily="34" charset="0"/>
                <a:ea typeface="Arial" pitchFamily="34" charset="-122"/>
                <a:cs typeface="Arial" pitchFamily="34" charset="-120"/>
              </a:rPr>
              <a:t>El simulador avanza de a un segundo hasta sentar a todos</a:t>
            </a:r>
            <a:endParaRPr lang="en-US" sz="2600" dirty="0"/>
          </a:p>
        </p:txBody>
      </p:sp>
      <p:sp>
        <p:nvSpPr>
          <p:cNvPr id="4" name="Text 2"/>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6</a:t>
            </a:r>
            <a:endParaRPr lang="en-US" sz="1000" dirty="0"/>
          </a:p>
        </p:txBody>
      </p:sp>
      <p:sp>
        <p:nvSpPr>
          <p:cNvPr id="5" name="Text 3"/>
          <p:cNvSpPr txBox="1"/>
          <p:nvPr/>
        </p:nvSpPr>
        <p:spPr>
          <a:xfrm>
            <a:off x="548640" y="1371600"/>
            <a:ext cx="5760720" cy="32004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Un segundo de simulación</a:t>
            </a:r>
            <a:endParaRPr lang="en-US" sz="1500" dirty="0"/>
          </a:p>
        </p:txBody>
      </p:sp>
      <p:sp>
        <p:nvSpPr>
          <p:cNvPr id="6" name="Shape 4"/>
          <p:cNvSpPr/>
          <p:nvPr/>
        </p:nvSpPr>
        <p:spPr>
          <a:xfrm>
            <a:off x="548640" y="1828800"/>
            <a:ext cx="5760720" cy="694944"/>
          </a:xfrm>
          <a:prstGeom prst="rect">
            <a:avLst/>
          </a:prstGeom>
          <a:solidFill>
            <a:srgbClr val="EFEFEC"/>
          </a:solidFill>
          <a:ln/>
        </p:spPr>
      </p:sp>
      <p:sp>
        <p:nvSpPr>
          <p:cNvPr id="7" name="Text 5"/>
          <p:cNvSpPr txBox="1"/>
          <p:nvPr/>
        </p:nvSpPr>
        <p:spPr>
          <a:xfrm>
            <a:off x="777240" y="1828800"/>
            <a:ext cx="365760" cy="694944"/>
          </a:xfrm>
          <a:prstGeom prst="rect">
            <a:avLst/>
          </a:prstGeom>
          <a:noFill/>
          <a:ln/>
        </p:spPr>
        <p:txBody>
          <a:bodyPr wrap="square" lIns="0" tIns="0" rIns="0" bIns="0" rtlCol="0" anchor="ctr"/>
          <a:lstStyle/>
          <a:p>
            <a:pPr indent="0" marL="0">
              <a:buNone/>
            </a:pPr>
            <a:r>
              <a:rPr lang="en-US" sz="1800" b="1" dirty="0">
                <a:solidFill>
                  <a:srgbClr val="8A8A8A"/>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1234440" y="1828800"/>
            <a:ext cx="4846320" cy="694944"/>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Si la fila 1 está libre, sube el próximo pasajero que elige la política</a:t>
            </a:r>
            <a:endParaRPr lang="en-US" sz="1350" dirty="0"/>
          </a:p>
        </p:txBody>
      </p:sp>
      <p:sp>
        <p:nvSpPr>
          <p:cNvPr id="9" name="Shape 7"/>
          <p:cNvSpPr/>
          <p:nvPr/>
        </p:nvSpPr>
        <p:spPr>
          <a:xfrm>
            <a:off x="548640" y="2670048"/>
            <a:ext cx="5760720" cy="694944"/>
          </a:xfrm>
          <a:prstGeom prst="rect">
            <a:avLst/>
          </a:prstGeom>
          <a:solidFill>
            <a:srgbClr val="EFEFEC"/>
          </a:solidFill>
          <a:ln/>
        </p:spPr>
      </p:sp>
      <p:sp>
        <p:nvSpPr>
          <p:cNvPr id="10" name="Text 8"/>
          <p:cNvSpPr txBox="1"/>
          <p:nvPr/>
        </p:nvSpPr>
        <p:spPr>
          <a:xfrm>
            <a:off x="777240" y="2670048"/>
            <a:ext cx="365760" cy="694944"/>
          </a:xfrm>
          <a:prstGeom prst="rect">
            <a:avLst/>
          </a:prstGeom>
          <a:noFill/>
          <a:ln/>
        </p:spPr>
        <p:txBody>
          <a:bodyPr wrap="square" lIns="0" tIns="0" rIns="0" bIns="0" rtlCol="0" anchor="ctr"/>
          <a:lstStyle/>
          <a:p>
            <a:pPr indent="0" marL="0">
              <a:buNone/>
            </a:pPr>
            <a:r>
              <a:rPr lang="en-US" sz="1800" b="1" dirty="0">
                <a:solidFill>
                  <a:srgbClr val="8A8A8A"/>
                </a:solidFill>
                <a:latin typeface="Arial" pitchFamily="34" charset="0"/>
                <a:ea typeface="Arial" pitchFamily="34" charset="-122"/>
                <a:cs typeface="Arial" pitchFamily="34" charset="-120"/>
              </a:rPr>
              <a:t>2</a:t>
            </a:r>
            <a:endParaRPr lang="en-US" sz="1800" dirty="0"/>
          </a:p>
        </p:txBody>
      </p:sp>
      <p:sp>
        <p:nvSpPr>
          <p:cNvPr id="11" name="Text 9"/>
          <p:cNvSpPr txBox="1"/>
          <p:nvPr/>
        </p:nvSpPr>
        <p:spPr>
          <a:xfrm>
            <a:off x="1234440" y="2670048"/>
            <a:ext cx="4846320" cy="694944"/>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Cada pasajero del pasillo avanza, espera, guarda su valija o se sienta</a:t>
            </a:r>
            <a:endParaRPr lang="en-US" sz="1350" dirty="0"/>
          </a:p>
        </p:txBody>
      </p:sp>
      <p:sp>
        <p:nvSpPr>
          <p:cNvPr id="12" name="Shape 10"/>
          <p:cNvSpPr/>
          <p:nvPr/>
        </p:nvSpPr>
        <p:spPr>
          <a:xfrm>
            <a:off x="548640" y="3511296"/>
            <a:ext cx="5760720" cy="694944"/>
          </a:xfrm>
          <a:prstGeom prst="rect">
            <a:avLst/>
          </a:prstGeom>
          <a:solidFill>
            <a:srgbClr val="EFEFEC"/>
          </a:solidFill>
          <a:ln/>
        </p:spPr>
      </p:sp>
      <p:sp>
        <p:nvSpPr>
          <p:cNvPr id="13" name="Text 11"/>
          <p:cNvSpPr txBox="1"/>
          <p:nvPr/>
        </p:nvSpPr>
        <p:spPr>
          <a:xfrm>
            <a:off x="777240" y="3511296"/>
            <a:ext cx="365760" cy="694944"/>
          </a:xfrm>
          <a:prstGeom prst="rect">
            <a:avLst/>
          </a:prstGeom>
          <a:noFill/>
          <a:ln/>
        </p:spPr>
        <p:txBody>
          <a:bodyPr wrap="square" lIns="0" tIns="0" rIns="0" bIns="0" rtlCol="0" anchor="ctr"/>
          <a:lstStyle/>
          <a:p>
            <a:pPr indent="0" marL="0">
              <a:buNone/>
            </a:pPr>
            <a:r>
              <a:rPr lang="en-US" sz="1800" b="1" dirty="0">
                <a:solidFill>
                  <a:srgbClr val="8A8A8A"/>
                </a:solidFill>
                <a:latin typeface="Arial" pitchFamily="34" charset="0"/>
                <a:ea typeface="Arial" pitchFamily="34" charset="-122"/>
                <a:cs typeface="Arial" pitchFamily="34" charset="-120"/>
              </a:rPr>
              <a:t>3</a:t>
            </a:r>
            <a:endParaRPr lang="en-US" sz="1800" dirty="0"/>
          </a:p>
        </p:txBody>
      </p:sp>
      <p:sp>
        <p:nvSpPr>
          <p:cNvPr id="14" name="Text 12"/>
          <p:cNvSpPr txBox="1"/>
          <p:nvPr/>
        </p:nvSpPr>
        <p:spPr>
          <a:xfrm>
            <a:off x="1234440" y="3511296"/>
            <a:ext cx="4846320" cy="694944"/>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Los que ya se sentaron salen del pasillo</a:t>
            </a:r>
            <a:endParaRPr lang="en-US" sz="1350" dirty="0"/>
          </a:p>
        </p:txBody>
      </p:sp>
      <p:sp>
        <p:nvSpPr>
          <p:cNvPr id="15" name="Shape 13"/>
          <p:cNvSpPr/>
          <p:nvPr/>
        </p:nvSpPr>
        <p:spPr>
          <a:xfrm>
            <a:off x="548640" y="4352544"/>
            <a:ext cx="5760720" cy="694944"/>
          </a:xfrm>
          <a:prstGeom prst="rect">
            <a:avLst/>
          </a:prstGeom>
          <a:solidFill>
            <a:srgbClr val="EFEFEC"/>
          </a:solidFill>
          <a:ln/>
        </p:spPr>
      </p:sp>
      <p:sp>
        <p:nvSpPr>
          <p:cNvPr id="16" name="Text 14"/>
          <p:cNvSpPr txBox="1"/>
          <p:nvPr/>
        </p:nvSpPr>
        <p:spPr>
          <a:xfrm>
            <a:off x="777240" y="4352544"/>
            <a:ext cx="365760" cy="694944"/>
          </a:xfrm>
          <a:prstGeom prst="rect">
            <a:avLst/>
          </a:prstGeom>
          <a:noFill/>
          <a:ln/>
        </p:spPr>
        <p:txBody>
          <a:bodyPr wrap="square" lIns="0" tIns="0" rIns="0" bIns="0" rtlCol="0" anchor="ctr"/>
          <a:lstStyle/>
          <a:p>
            <a:pPr indent="0" marL="0">
              <a:buNone/>
            </a:pPr>
            <a:r>
              <a:rPr lang="en-US" sz="1800" b="1" dirty="0">
                <a:solidFill>
                  <a:srgbClr val="8A8A8A"/>
                </a:solidFill>
                <a:latin typeface="Arial" pitchFamily="34" charset="0"/>
                <a:ea typeface="Arial" pitchFamily="34" charset="-122"/>
                <a:cs typeface="Arial" pitchFamily="34" charset="-120"/>
              </a:rPr>
              <a:t>4</a:t>
            </a:r>
            <a:endParaRPr lang="en-US" sz="1800" dirty="0"/>
          </a:p>
        </p:txBody>
      </p:sp>
      <p:sp>
        <p:nvSpPr>
          <p:cNvPr id="17" name="Text 15"/>
          <p:cNvSpPr txBox="1"/>
          <p:nvPr/>
        </p:nvSpPr>
        <p:spPr>
          <a:xfrm>
            <a:off x="1234440" y="4352544"/>
            <a:ext cx="4846320" cy="694944"/>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Se repite hasta que están los 100 sentados: ese segundo es el tiempo de llenado</a:t>
            </a:r>
            <a:endParaRPr lang="en-US" sz="1350" dirty="0"/>
          </a:p>
        </p:txBody>
      </p:sp>
      <p:sp>
        <p:nvSpPr>
          <p:cNvPr id="18" name="Text 16"/>
          <p:cNvSpPr txBox="1"/>
          <p:nvPr/>
        </p:nvSpPr>
        <p:spPr>
          <a:xfrm>
            <a:off x="548640" y="5303520"/>
            <a:ext cx="5760720" cy="6400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Cada política es una función que decide quién sube. El resto del simulador es igual para las cinco.</a:t>
            </a:r>
            <a:endParaRPr lang="en-US" sz="1250" dirty="0"/>
          </a:p>
        </p:txBody>
      </p:sp>
      <p:sp>
        <p:nvSpPr>
          <p:cNvPr id="19" name="Text 17"/>
          <p:cNvSpPr txBox="1"/>
          <p:nvPr/>
        </p:nvSpPr>
        <p:spPr>
          <a:xfrm>
            <a:off x="6858000" y="1371600"/>
            <a:ext cx="4785055" cy="320040"/>
          </a:xfrm>
          <a:prstGeom prst="rect">
            <a:avLst/>
          </a:prstGeom>
          <a:noFill/>
          <a:ln/>
        </p:spPr>
        <p:txBody>
          <a:bodyPr wrap="square" lIns="0" tIns="0" rIns="0" bIns="0" rtlCol="0" anchor="t"/>
          <a:lstStyle/>
          <a:p>
            <a:pPr indent="0" marL="0">
              <a:buNone/>
            </a:pPr>
            <a:r>
              <a:rPr lang="en-US" sz="1500" b="1" dirty="0">
                <a:solidFill>
                  <a:srgbClr val="1A1A1A"/>
                </a:solidFill>
                <a:latin typeface="Arial" pitchFamily="34" charset="0"/>
                <a:ea typeface="Arial" pitchFamily="34" charset="-122"/>
                <a:cs typeface="Arial" pitchFamily="34" charset="-120"/>
              </a:rPr>
              <a:t>Cómo está organizado el código</a:t>
            </a:r>
            <a:endParaRPr lang="en-US" sz="1500" dirty="0"/>
          </a:p>
        </p:txBody>
      </p:sp>
      <p:sp>
        <p:nvSpPr>
          <p:cNvPr id="20" name="Text 18"/>
          <p:cNvSpPr txBox="1"/>
          <p:nvPr/>
        </p:nvSpPr>
        <p:spPr>
          <a:xfrm>
            <a:off x="6858000" y="1828800"/>
            <a:ext cx="4785055" cy="274320"/>
          </a:xfrm>
          <a:prstGeom prst="rect">
            <a:avLst/>
          </a:prstGeom>
          <a:noFill/>
          <a:ln/>
        </p:spPr>
        <p:txBody>
          <a:bodyPr wrap="square" lIns="0" tIns="0" rIns="0" bIns="0" rtlCol="0" anchor="t"/>
          <a:lstStyle/>
          <a:p>
            <a:pPr indent="0" marL="0">
              <a:buNone/>
            </a:pPr>
            <a:r>
              <a:rPr lang="en-US" sz="1250" b="1" dirty="0">
                <a:solidFill>
                  <a:srgbClr val="1A1A1A"/>
                </a:solidFill>
                <a:latin typeface="Courier New" pitchFamily="34" charset="0"/>
                <a:ea typeface="Courier New" pitchFamily="34" charset="-122"/>
                <a:cs typeface="Courier New" pitchFamily="34" charset="-120"/>
              </a:rPr>
              <a:t>eltrabajoencuestion.py</a:t>
            </a:r>
            <a:endParaRPr lang="en-US" sz="1250" dirty="0"/>
          </a:p>
        </p:txBody>
      </p:sp>
      <p:sp>
        <p:nvSpPr>
          <p:cNvPr id="21" name="Text 19"/>
          <p:cNvSpPr txBox="1"/>
          <p:nvPr/>
        </p:nvSpPr>
        <p:spPr>
          <a:xfrm>
            <a:off x="6858000" y="2103120"/>
            <a:ext cx="4785055" cy="384048"/>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El simulador, las cinco políticas y las estadísticas</a:t>
            </a:r>
            <a:endParaRPr lang="en-US" sz="1200" dirty="0"/>
          </a:p>
        </p:txBody>
      </p:sp>
      <p:sp>
        <p:nvSpPr>
          <p:cNvPr id="22" name="Text 20"/>
          <p:cNvSpPr txBox="1"/>
          <p:nvPr/>
        </p:nvSpPr>
        <p:spPr>
          <a:xfrm>
            <a:off x="6858000" y="2560320"/>
            <a:ext cx="4785055" cy="274320"/>
          </a:xfrm>
          <a:prstGeom prst="rect">
            <a:avLst/>
          </a:prstGeom>
          <a:noFill/>
          <a:ln/>
        </p:spPr>
        <p:txBody>
          <a:bodyPr wrap="square" lIns="0" tIns="0" rIns="0" bIns="0" rtlCol="0" anchor="t"/>
          <a:lstStyle/>
          <a:p>
            <a:pPr indent="0" marL="0">
              <a:buNone/>
            </a:pPr>
            <a:r>
              <a:rPr lang="en-US" sz="1250" b="1" dirty="0">
                <a:solidFill>
                  <a:srgbClr val="1A1A1A"/>
                </a:solidFill>
                <a:latin typeface="Courier New" pitchFamily="34" charset="0"/>
                <a:ea typeface="Courier New" pitchFamily="34" charset="-122"/>
                <a:cs typeface="Courier New" pitchFamily="34" charset="-120"/>
              </a:rPr>
              <a:t>visualizacion.py</a:t>
            </a:r>
            <a:endParaRPr lang="en-US" sz="1250" dirty="0"/>
          </a:p>
        </p:txBody>
      </p:sp>
      <p:sp>
        <p:nvSpPr>
          <p:cNvPr id="23" name="Text 21"/>
          <p:cNvSpPr txBox="1"/>
          <p:nvPr/>
        </p:nvSpPr>
        <p:spPr>
          <a:xfrm>
            <a:off x="6858000" y="2834640"/>
            <a:ext cx="4785055" cy="384048"/>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La animación paso a paso, de donde salen los GIFs</a:t>
            </a:r>
            <a:endParaRPr lang="en-US" sz="1200" dirty="0"/>
          </a:p>
        </p:txBody>
      </p:sp>
      <p:sp>
        <p:nvSpPr>
          <p:cNvPr id="24" name="Text 22"/>
          <p:cNvSpPr txBox="1"/>
          <p:nvPr/>
        </p:nvSpPr>
        <p:spPr>
          <a:xfrm>
            <a:off x="6858000" y="3291840"/>
            <a:ext cx="4785055" cy="274320"/>
          </a:xfrm>
          <a:prstGeom prst="rect">
            <a:avLst/>
          </a:prstGeom>
          <a:noFill/>
          <a:ln/>
        </p:spPr>
        <p:txBody>
          <a:bodyPr wrap="square" lIns="0" tIns="0" rIns="0" bIns="0" rtlCol="0" anchor="t"/>
          <a:lstStyle/>
          <a:p>
            <a:pPr indent="0" marL="0">
              <a:buNone/>
            </a:pPr>
            <a:r>
              <a:rPr lang="en-US" sz="1250" b="1" dirty="0">
                <a:solidFill>
                  <a:srgbClr val="1A1A1A"/>
                </a:solidFill>
                <a:latin typeface="Courier New" pitchFamily="34" charset="0"/>
                <a:ea typeface="Courier New" pitchFamily="34" charset="-122"/>
                <a:cs typeface="Courier New" pitchFamily="34" charset="-120"/>
              </a:rPr>
              <a:t>graficos_distribucion.py</a:t>
            </a:r>
            <a:endParaRPr lang="en-US" sz="1250" dirty="0"/>
          </a:p>
        </p:txBody>
      </p:sp>
      <p:sp>
        <p:nvSpPr>
          <p:cNvPr id="25" name="Text 23"/>
          <p:cNvSpPr txBox="1"/>
          <p:nvPr/>
        </p:nvSpPr>
        <p:spPr>
          <a:xfrm>
            <a:off x="6858000" y="3566160"/>
            <a:ext cx="4785055" cy="384048"/>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La distribución del tiempo de llenado</a:t>
            </a:r>
            <a:endParaRPr lang="en-US" sz="1200" dirty="0"/>
          </a:p>
        </p:txBody>
      </p:sp>
      <p:sp>
        <p:nvSpPr>
          <p:cNvPr id="26" name="Text 24"/>
          <p:cNvSpPr txBox="1"/>
          <p:nvPr/>
        </p:nvSpPr>
        <p:spPr>
          <a:xfrm>
            <a:off x="6858000" y="4023360"/>
            <a:ext cx="4785055" cy="274320"/>
          </a:xfrm>
          <a:prstGeom prst="rect">
            <a:avLst/>
          </a:prstGeom>
          <a:noFill/>
          <a:ln/>
        </p:spPr>
        <p:txBody>
          <a:bodyPr wrap="square" lIns="0" tIns="0" rIns="0" bIns="0" rtlCol="0" anchor="t"/>
          <a:lstStyle/>
          <a:p>
            <a:pPr indent="0" marL="0">
              <a:buNone/>
            </a:pPr>
            <a:r>
              <a:rPr lang="en-US" sz="1250" b="1" dirty="0">
                <a:solidFill>
                  <a:srgbClr val="1A1A1A"/>
                </a:solidFill>
                <a:latin typeface="Courier New" pitchFamily="34" charset="0"/>
                <a:ea typeface="Courier New" pitchFamily="34" charset="-122"/>
                <a:cs typeface="Courier New" pitchFamily="34" charset="-120"/>
              </a:rPr>
              <a:t>analisis_carryon.py</a:t>
            </a:r>
            <a:endParaRPr lang="en-US" sz="1250" dirty="0"/>
          </a:p>
        </p:txBody>
      </p:sp>
      <p:sp>
        <p:nvSpPr>
          <p:cNvPr id="27" name="Text 25"/>
          <p:cNvSpPr txBox="1"/>
          <p:nvPr/>
        </p:nvSpPr>
        <p:spPr>
          <a:xfrm>
            <a:off x="6858000" y="4297680"/>
            <a:ext cx="4785055" cy="384048"/>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El barrido de la probabilidad de carry-on</a:t>
            </a:r>
            <a:endParaRPr lang="en-US" sz="1200" dirty="0"/>
          </a:p>
        </p:txBody>
      </p:sp>
      <p:sp>
        <p:nvSpPr>
          <p:cNvPr id="28" name="Text 26"/>
          <p:cNvSpPr txBox="1"/>
          <p:nvPr/>
        </p:nvSpPr>
        <p:spPr>
          <a:xfrm>
            <a:off x="6858000" y="4754880"/>
            <a:ext cx="4785055" cy="274320"/>
          </a:xfrm>
          <a:prstGeom prst="rect">
            <a:avLst/>
          </a:prstGeom>
          <a:noFill/>
          <a:ln/>
        </p:spPr>
        <p:txBody>
          <a:bodyPr wrap="square" lIns="0" tIns="0" rIns="0" bIns="0" rtlCol="0" anchor="t"/>
          <a:lstStyle/>
          <a:p>
            <a:pPr indent="0" marL="0">
              <a:buNone/>
            </a:pPr>
            <a:r>
              <a:rPr lang="en-US" sz="1250" b="1" dirty="0">
                <a:solidFill>
                  <a:srgbClr val="1A1A1A"/>
                </a:solidFill>
                <a:latin typeface="Courier New" pitchFamily="34" charset="0"/>
                <a:ea typeface="Courier New" pitchFamily="34" charset="-122"/>
                <a:cs typeface="Courier New" pitchFamily="34" charset="-120"/>
              </a:rPr>
              <a:t>analisis_prioritario.py</a:t>
            </a:r>
            <a:endParaRPr lang="en-US" sz="1250" dirty="0"/>
          </a:p>
        </p:txBody>
      </p:sp>
      <p:sp>
        <p:nvSpPr>
          <p:cNvPr id="29" name="Text 27"/>
          <p:cNvSpPr txBox="1"/>
          <p:nvPr/>
        </p:nvSpPr>
        <p:spPr>
          <a:xfrm>
            <a:off x="6858000" y="5029200"/>
            <a:ext cx="4785055" cy="384048"/>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Bonus: el costo del embarque prioritario</a:t>
            </a:r>
            <a:endParaRPr lang="en-US" sz="1200" dirty="0"/>
          </a:p>
        </p:txBody>
      </p:sp>
      <p:sp>
        <p:nvSpPr>
          <p:cNvPr id="30" name="Text 28"/>
          <p:cNvSpPr txBox="1"/>
          <p:nvPr/>
        </p:nvSpPr>
        <p:spPr>
          <a:xfrm>
            <a:off x="6858000" y="5486400"/>
            <a:ext cx="4785055" cy="274320"/>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Análisis de costos</a:t>
            </a:r>
            <a:endParaRPr lang="en-US" sz="1250" dirty="0"/>
          </a:p>
        </p:txBody>
      </p:sp>
      <p:sp>
        <p:nvSpPr>
          <p:cNvPr id="31" name="Text 29"/>
          <p:cNvSpPr txBox="1"/>
          <p:nvPr/>
        </p:nvSpPr>
        <p:spPr>
          <a:xfrm>
            <a:off x="6858000" y="5760720"/>
            <a:ext cx="4785055" cy="384048"/>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Plazas vacías y costo de la demora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Políticas</a:t>
            </a:r>
            <a:endParaRPr lang="en-US" sz="1200" dirty="0"/>
          </a:p>
        </p:txBody>
      </p:sp>
      <p:sp>
        <p:nvSpPr>
          <p:cNvPr id="3" name="Text 1"/>
          <p:cNvSpPr txBox="1"/>
          <p:nvPr/>
        </p:nvSpPr>
        <p:spPr>
          <a:xfrm>
            <a:off x="548640" y="603504"/>
            <a:ext cx="11094415" cy="914400"/>
          </a:xfrm>
          <a:prstGeom prst="rect">
            <a:avLst/>
          </a:prstGeom>
          <a:noFill/>
          <a:ln/>
        </p:spPr>
        <p:txBody>
          <a:bodyPr wrap="square" lIns="0" tIns="0" rIns="0" bIns="0" rtlCol="0" anchor="t"/>
          <a:lstStyle/>
          <a:p>
            <a:pPr indent="0" marL="0">
              <a:lnSpc>
                <a:spcPct val="100000"/>
              </a:lnSpc>
              <a:buNone/>
            </a:pPr>
            <a:r>
              <a:rPr lang="en-US" sz="2600" b="1" dirty="0">
                <a:solidFill>
                  <a:srgbClr val="1A1A1A"/>
                </a:solidFill>
                <a:latin typeface="Arial" pitchFamily="34" charset="0"/>
                <a:ea typeface="Arial" pitchFamily="34" charset="-122"/>
                <a:cs typeface="Arial" pitchFamily="34" charset="-120"/>
              </a:rPr>
              <a:t>Las cinco políticas sólo cambian en qué orden sube la gente</a:t>
            </a:r>
            <a:endParaRPr lang="en-US" sz="2600" dirty="0"/>
          </a:p>
        </p:txBody>
      </p:sp>
      <p:sp>
        <p:nvSpPr>
          <p:cNvPr id="4" name="Text 2"/>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7</a:t>
            </a:r>
            <a:endParaRPr lang="en-US" sz="1000" dirty="0"/>
          </a:p>
        </p:txBody>
      </p:sp>
      <p:sp>
        <p:nvSpPr>
          <p:cNvPr id="5" name="Text 3"/>
          <p:cNvSpPr txBox="1"/>
          <p:nvPr/>
        </p:nvSpPr>
        <p:spPr>
          <a:xfrm>
            <a:off x="548640" y="1234440"/>
            <a:ext cx="5396332" cy="274320"/>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Steffen</a:t>
            </a:r>
            <a:pPr indent="0" marL="0">
              <a:buNone/>
            </a:pPr>
            <a:r>
              <a:rPr lang="en-US" sz="1250" dirty="0">
                <a:solidFill>
                  <a:srgbClr val="555555"/>
                </a:solidFill>
                <a:latin typeface="Arial" pitchFamily="34" charset="0"/>
                <a:ea typeface="Arial" pitchFamily="34" charset="-122"/>
                <a:cs typeface="Arial" pitchFamily="34" charset="-120"/>
              </a:rPr>
              <a:t>  ·  ventanas y filas salteadas, de atrás hacia adelante</a:t>
            </a:r>
            <a:endParaRPr lang="en-US" sz="1250" dirty="0"/>
          </a:p>
        </p:txBody>
      </p:sp>
      <p:pic>
        <p:nvPicPr>
          <p:cNvPr id="6" name="Image 0" descr="C:\Users\busta\OneDrive\Documentos\Di Tella\ACN\TP1 aviones\TPNUCLEAR-ACN\paragraficar\gifs politicas\Steffen_recorte.gif">    </p:cNvPr>
          <p:cNvPicPr>
            <a:picLocks noChangeAspect="1"/>
          </p:cNvPicPr>
          <p:nvPr/>
        </p:nvPicPr>
        <p:blipFill>
          <a:blip r:embed="rId1"/>
          <a:stretch>
            <a:fillRect/>
          </a:stretch>
        </p:blipFill>
        <p:spPr>
          <a:xfrm>
            <a:off x="548640" y="1527048"/>
            <a:ext cx="5396332" cy="1310737"/>
          </a:xfrm>
          <a:prstGeom prst="rect">
            <a:avLst/>
          </a:prstGeom>
        </p:spPr>
      </p:pic>
      <p:sp>
        <p:nvSpPr>
          <p:cNvPr id="7" name="Text 4"/>
          <p:cNvSpPr txBox="1"/>
          <p:nvPr/>
        </p:nvSpPr>
        <p:spPr>
          <a:xfrm>
            <a:off x="548640" y="2907792"/>
            <a:ext cx="5396332" cy="274320"/>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WILMA</a:t>
            </a:r>
            <a:pPr indent="0" marL="0">
              <a:buNone/>
            </a:pPr>
            <a:r>
              <a:rPr lang="en-US" sz="1250" dirty="0">
                <a:solidFill>
                  <a:srgbClr val="555555"/>
                </a:solidFill>
                <a:latin typeface="Arial" pitchFamily="34" charset="0"/>
                <a:ea typeface="Arial" pitchFamily="34" charset="-122"/>
                <a:cs typeface="Arial" pitchFamily="34" charset="-120"/>
              </a:rPr>
              <a:t>  ·  primero ventanas, después pasillos</a:t>
            </a:r>
            <a:endParaRPr lang="en-US" sz="1250" dirty="0"/>
          </a:p>
        </p:txBody>
      </p:sp>
      <p:pic>
        <p:nvPicPr>
          <p:cNvPr id="8" name="Image 1" descr="C:\Users\busta\OneDrive\Documentos\Di Tella\ACN\TP1 aviones\TPNUCLEAR-ACN\paragraficar\gifs politicas\WILMA_recorte.gif">    </p:cNvPr>
          <p:cNvPicPr>
            <a:picLocks noChangeAspect="1"/>
          </p:cNvPicPr>
          <p:nvPr/>
        </p:nvPicPr>
        <p:blipFill>
          <a:blip r:embed="rId2"/>
          <a:stretch>
            <a:fillRect/>
          </a:stretch>
        </p:blipFill>
        <p:spPr>
          <a:xfrm>
            <a:off x="548640" y="3200400"/>
            <a:ext cx="5396332" cy="1310737"/>
          </a:xfrm>
          <a:prstGeom prst="rect">
            <a:avLst/>
          </a:prstGeom>
        </p:spPr>
      </p:pic>
      <p:sp>
        <p:nvSpPr>
          <p:cNvPr id="9" name="Text 5"/>
          <p:cNvSpPr txBox="1"/>
          <p:nvPr/>
        </p:nvSpPr>
        <p:spPr>
          <a:xfrm>
            <a:off x="548640" y="4581144"/>
            <a:ext cx="5396332" cy="274320"/>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Random</a:t>
            </a:r>
            <a:pPr indent="0" marL="0">
              <a:buNone/>
            </a:pPr>
            <a:r>
              <a:rPr lang="en-US" sz="1250" dirty="0">
                <a:solidFill>
                  <a:srgbClr val="555555"/>
                </a:solidFill>
                <a:latin typeface="Arial" pitchFamily="34" charset="0"/>
                <a:ea typeface="Arial" pitchFamily="34" charset="-122"/>
                <a:cs typeface="Arial" pitchFamily="34" charset="-120"/>
              </a:rPr>
              <a:t>  ·  cada uno sube en cualquier orden</a:t>
            </a:r>
            <a:endParaRPr lang="en-US" sz="1250" dirty="0"/>
          </a:p>
        </p:txBody>
      </p:sp>
      <p:pic>
        <p:nvPicPr>
          <p:cNvPr id="10" name="Image 2" descr="C:\Users\busta\OneDrive\Documentos\Di Tella\ACN\TP1 aviones\TPNUCLEAR-ACN\paragraficar\gifs politicas\Random_recorte.gif">    </p:cNvPr>
          <p:cNvPicPr>
            <a:picLocks noChangeAspect="1"/>
          </p:cNvPicPr>
          <p:nvPr/>
        </p:nvPicPr>
        <p:blipFill>
          <a:blip r:embed="rId3"/>
          <a:stretch>
            <a:fillRect/>
          </a:stretch>
        </p:blipFill>
        <p:spPr>
          <a:xfrm>
            <a:off x="548640" y="4873752"/>
            <a:ext cx="5396332" cy="1310737"/>
          </a:xfrm>
          <a:prstGeom prst="rect">
            <a:avLst/>
          </a:prstGeom>
        </p:spPr>
      </p:pic>
      <p:sp>
        <p:nvSpPr>
          <p:cNvPr id="11" name="Text 6"/>
          <p:cNvSpPr txBox="1"/>
          <p:nvPr/>
        </p:nvSpPr>
        <p:spPr>
          <a:xfrm>
            <a:off x="6246724" y="1234440"/>
            <a:ext cx="5396332" cy="274320"/>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Back‑to‑Front</a:t>
            </a:r>
            <a:pPr indent="0" marL="0">
              <a:buNone/>
            </a:pPr>
            <a:r>
              <a:rPr lang="en-US" sz="1250" dirty="0">
                <a:solidFill>
                  <a:srgbClr val="555555"/>
                </a:solidFill>
                <a:latin typeface="Arial" pitchFamily="34" charset="0"/>
                <a:ea typeface="Arial" pitchFamily="34" charset="-122"/>
                <a:cs typeface="Arial" pitchFamily="34" charset="-120"/>
              </a:rPr>
              <a:t>  ·  fila por fila, de la última a la primera</a:t>
            </a:r>
            <a:endParaRPr lang="en-US" sz="1250" dirty="0"/>
          </a:p>
        </p:txBody>
      </p:sp>
      <p:pic>
        <p:nvPicPr>
          <p:cNvPr id="12" name="Image 3" descr="C:\Users\busta\OneDrive\Documentos\Di Tella\ACN\TP1 aviones\TPNUCLEAR-ACN\paragraficar\gifs politicas\BackToFront_recorte.gif">    </p:cNvPr>
          <p:cNvPicPr>
            <a:picLocks noChangeAspect="1"/>
          </p:cNvPicPr>
          <p:nvPr/>
        </p:nvPicPr>
        <p:blipFill>
          <a:blip r:embed="rId4"/>
          <a:stretch>
            <a:fillRect/>
          </a:stretch>
        </p:blipFill>
        <p:spPr>
          <a:xfrm>
            <a:off x="6246724" y="1527048"/>
            <a:ext cx="5396332" cy="1310737"/>
          </a:xfrm>
          <a:prstGeom prst="rect">
            <a:avLst/>
          </a:prstGeom>
        </p:spPr>
      </p:pic>
      <p:sp>
        <p:nvSpPr>
          <p:cNvPr id="13" name="Text 7"/>
          <p:cNvSpPr txBox="1"/>
          <p:nvPr/>
        </p:nvSpPr>
        <p:spPr>
          <a:xfrm>
            <a:off x="6246724" y="2907792"/>
            <a:ext cx="5396332" cy="274320"/>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B2F Ultimate</a:t>
            </a:r>
            <a:pPr indent="0" marL="0">
              <a:buNone/>
            </a:pPr>
            <a:r>
              <a:rPr lang="en-US" sz="1250" dirty="0">
                <a:solidFill>
                  <a:srgbClr val="555555"/>
                </a:solidFill>
                <a:latin typeface="Arial" pitchFamily="34" charset="0"/>
                <a:ea typeface="Arial" pitchFamily="34" charset="-122"/>
                <a:cs typeface="Arial" pitchFamily="34" charset="-120"/>
              </a:rPr>
              <a:t>  ·  al azar entre los 20 asientos libres más al fondo</a:t>
            </a:r>
            <a:endParaRPr lang="en-US" sz="1250" dirty="0"/>
          </a:p>
        </p:txBody>
      </p:sp>
      <p:pic>
        <p:nvPicPr>
          <p:cNvPr id="14" name="Image 4" descr="C:\Users\busta\OneDrive\Documentos\Di Tella\ACN\TP1 aviones\TPNUCLEAR-ACN\paragraficar\gifs politicas\BackToFrontUltimate_recorte.gif">    </p:cNvPr>
          <p:cNvPicPr>
            <a:picLocks noChangeAspect="1"/>
          </p:cNvPicPr>
          <p:nvPr/>
        </p:nvPicPr>
        <p:blipFill>
          <a:blip r:embed="rId5"/>
          <a:stretch>
            <a:fillRect/>
          </a:stretch>
        </p:blipFill>
        <p:spPr>
          <a:xfrm>
            <a:off x="6246724" y="3200400"/>
            <a:ext cx="5396332" cy="1310737"/>
          </a:xfrm>
          <a:prstGeom prst="rect">
            <a:avLst/>
          </a:prstGeom>
        </p:spPr>
      </p:pic>
      <p:sp>
        <p:nvSpPr>
          <p:cNvPr id="15" name="Text 8"/>
          <p:cNvSpPr txBox="1"/>
          <p:nvPr/>
        </p:nvSpPr>
        <p:spPr>
          <a:xfrm>
            <a:off x="6246724" y="4672584"/>
            <a:ext cx="5396332" cy="274320"/>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Cómo leer la animación</a:t>
            </a:r>
            <a:endParaRPr lang="en-US" sz="1250" dirty="0"/>
          </a:p>
        </p:txBody>
      </p:sp>
      <p:sp>
        <p:nvSpPr>
          <p:cNvPr id="16" name="Shape 9"/>
          <p:cNvSpPr/>
          <p:nvPr/>
        </p:nvSpPr>
        <p:spPr>
          <a:xfrm rot="5400000">
            <a:off x="6246724" y="5056632"/>
            <a:ext cx="201168" cy="201168"/>
          </a:xfrm>
          <a:prstGeom prst="triangle">
            <a:avLst/>
          </a:prstGeom>
          <a:solidFill>
            <a:srgbClr val="0072B2"/>
          </a:solidFill>
          <a:ln w="9525">
            <a:solidFill>
              <a:srgbClr val="004E7A"/>
            </a:solidFill>
            <a:prstDash val="solid"/>
          </a:ln>
        </p:spPr>
      </p:sp>
      <p:sp>
        <p:nvSpPr>
          <p:cNvPr id="17" name="Text 10"/>
          <p:cNvSpPr txBox="1"/>
          <p:nvPr/>
        </p:nvSpPr>
        <p:spPr>
          <a:xfrm>
            <a:off x="6566764" y="5038344"/>
            <a:ext cx="2332406" cy="256032"/>
          </a:xfrm>
          <a:prstGeom prst="rect">
            <a:avLst/>
          </a:prstGeom>
          <a:noFill/>
          <a:ln/>
        </p:spPr>
        <p:txBody>
          <a:bodyPr wrap="square" lIns="0" tIns="0" rIns="0" bIns="0" rtlCol="0" anchor="ctr"/>
          <a:lstStyle/>
          <a:p>
            <a:pPr indent="0" marL="0">
              <a:buNone/>
            </a:pPr>
            <a:r>
              <a:rPr lang="en-US" sz="1200" dirty="0">
                <a:solidFill>
                  <a:srgbClr val="555555"/>
                </a:solidFill>
                <a:latin typeface="Arial" pitchFamily="34" charset="0"/>
                <a:ea typeface="Arial" pitchFamily="34" charset="-122"/>
                <a:cs typeface="Arial" pitchFamily="34" charset="-120"/>
              </a:rPr>
              <a:t>Camina</a:t>
            </a:r>
            <a:endParaRPr lang="en-US" sz="1200" dirty="0"/>
          </a:p>
        </p:txBody>
      </p:sp>
      <p:sp>
        <p:nvSpPr>
          <p:cNvPr id="18" name="Shape 11"/>
          <p:cNvSpPr/>
          <p:nvPr/>
        </p:nvSpPr>
        <p:spPr>
          <a:xfrm>
            <a:off x="6265012" y="5422392"/>
            <a:ext cx="64008" cy="201168"/>
          </a:xfrm>
          <a:prstGeom prst="rect">
            <a:avLst/>
          </a:prstGeom>
          <a:solidFill>
            <a:srgbClr val="D55E00"/>
          </a:solidFill>
          <a:ln w="9525">
            <a:solidFill>
              <a:srgbClr val="753400"/>
            </a:solidFill>
            <a:prstDash val="solid"/>
          </a:ln>
        </p:spPr>
      </p:sp>
      <p:sp>
        <p:nvSpPr>
          <p:cNvPr id="19" name="Shape 12"/>
          <p:cNvSpPr/>
          <p:nvPr/>
        </p:nvSpPr>
        <p:spPr>
          <a:xfrm>
            <a:off x="6374740" y="5422392"/>
            <a:ext cx="64008" cy="201168"/>
          </a:xfrm>
          <a:prstGeom prst="rect">
            <a:avLst/>
          </a:prstGeom>
          <a:solidFill>
            <a:srgbClr val="D55E00"/>
          </a:solidFill>
          <a:ln w="9525">
            <a:solidFill>
              <a:srgbClr val="753400"/>
            </a:solidFill>
            <a:prstDash val="solid"/>
          </a:ln>
        </p:spPr>
      </p:sp>
      <p:sp>
        <p:nvSpPr>
          <p:cNvPr id="20" name="Text 13"/>
          <p:cNvSpPr txBox="1"/>
          <p:nvPr/>
        </p:nvSpPr>
        <p:spPr>
          <a:xfrm>
            <a:off x="6566764" y="5404104"/>
            <a:ext cx="2332406" cy="256032"/>
          </a:xfrm>
          <a:prstGeom prst="rect">
            <a:avLst/>
          </a:prstGeom>
          <a:noFill/>
          <a:ln/>
        </p:spPr>
        <p:txBody>
          <a:bodyPr wrap="square" lIns="0" tIns="0" rIns="0" bIns="0" rtlCol="0" anchor="ctr"/>
          <a:lstStyle/>
          <a:p>
            <a:pPr indent="0" marL="0">
              <a:buNone/>
            </a:pPr>
            <a:r>
              <a:rPr lang="en-US" sz="1200" dirty="0">
                <a:solidFill>
                  <a:srgbClr val="555555"/>
                </a:solidFill>
                <a:latin typeface="Arial" pitchFamily="34" charset="0"/>
                <a:ea typeface="Arial" pitchFamily="34" charset="-122"/>
                <a:cs typeface="Arial" pitchFamily="34" charset="-120"/>
              </a:rPr>
              <a:t>Frenado por el de adelante</a:t>
            </a:r>
            <a:endParaRPr lang="en-US" sz="1200" dirty="0"/>
          </a:p>
        </p:txBody>
      </p:sp>
      <p:sp>
        <p:nvSpPr>
          <p:cNvPr id="21" name="Shape 14"/>
          <p:cNvSpPr/>
          <p:nvPr/>
        </p:nvSpPr>
        <p:spPr>
          <a:xfrm>
            <a:off x="6246724" y="5788152"/>
            <a:ext cx="201168" cy="201168"/>
          </a:xfrm>
          <a:prstGeom prst="roundRect">
            <a:avLst>
              <a:gd name="adj" fmla="val 13636"/>
            </a:avLst>
          </a:prstGeom>
          <a:solidFill>
            <a:srgbClr val="E69F00"/>
          </a:solidFill>
          <a:ln w="9525">
            <a:solidFill>
              <a:srgbClr val="7F5700"/>
            </a:solidFill>
            <a:prstDash val="solid"/>
          </a:ln>
        </p:spPr>
      </p:sp>
      <p:sp>
        <p:nvSpPr>
          <p:cNvPr id="22" name="Text 15"/>
          <p:cNvSpPr txBox="1"/>
          <p:nvPr/>
        </p:nvSpPr>
        <p:spPr>
          <a:xfrm>
            <a:off x="6566764" y="5769864"/>
            <a:ext cx="2332406" cy="256032"/>
          </a:xfrm>
          <a:prstGeom prst="rect">
            <a:avLst/>
          </a:prstGeom>
          <a:noFill/>
          <a:ln/>
        </p:spPr>
        <p:txBody>
          <a:bodyPr wrap="square" lIns="0" tIns="0" rIns="0" bIns="0" rtlCol="0" anchor="ctr"/>
          <a:lstStyle/>
          <a:p>
            <a:pPr indent="0" marL="0">
              <a:buNone/>
            </a:pPr>
            <a:r>
              <a:rPr lang="en-US" sz="1200" dirty="0">
                <a:solidFill>
                  <a:srgbClr val="555555"/>
                </a:solidFill>
                <a:latin typeface="Arial" pitchFamily="34" charset="0"/>
                <a:ea typeface="Arial" pitchFamily="34" charset="-122"/>
                <a:cs typeface="Arial" pitchFamily="34" charset="-120"/>
              </a:rPr>
              <a:t>Guarda el carry-on</a:t>
            </a:r>
            <a:endParaRPr lang="en-US" sz="1200" dirty="0"/>
          </a:p>
        </p:txBody>
      </p:sp>
      <p:sp>
        <p:nvSpPr>
          <p:cNvPr id="23" name="Shape 16"/>
          <p:cNvSpPr/>
          <p:nvPr/>
        </p:nvSpPr>
        <p:spPr>
          <a:xfrm>
            <a:off x="8944889" y="5056632"/>
            <a:ext cx="201168" cy="201168"/>
          </a:xfrm>
          <a:prstGeom prst="diamond">
            <a:avLst/>
          </a:prstGeom>
          <a:solidFill>
            <a:srgbClr val="CC79A7"/>
          </a:solidFill>
          <a:ln w="9525">
            <a:solidFill>
              <a:srgbClr val="70435C"/>
            </a:solidFill>
            <a:prstDash val="solid"/>
          </a:ln>
        </p:spPr>
      </p:sp>
      <p:sp>
        <p:nvSpPr>
          <p:cNvPr id="24" name="Text 17"/>
          <p:cNvSpPr txBox="1"/>
          <p:nvPr/>
        </p:nvSpPr>
        <p:spPr>
          <a:xfrm>
            <a:off x="9264929" y="5038344"/>
            <a:ext cx="2332406" cy="256032"/>
          </a:xfrm>
          <a:prstGeom prst="rect">
            <a:avLst/>
          </a:prstGeom>
          <a:noFill/>
          <a:ln/>
        </p:spPr>
        <p:txBody>
          <a:bodyPr wrap="square" lIns="0" tIns="0" rIns="0" bIns="0" rtlCol="0" anchor="ctr"/>
          <a:lstStyle/>
          <a:p>
            <a:pPr indent="0" marL="0">
              <a:buNone/>
            </a:pPr>
            <a:r>
              <a:rPr lang="en-US" sz="1200" dirty="0">
                <a:solidFill>
                  <a:srgbClr val="555555"/>
                </a:solidFill>
                <a:latin typeface="Arial" pitchFamily="34" charset="0"/>
                <a:ea typeface="Arial" pitchFamily="34" charset="-122"/>
                <a:cs typeface="Arial" pitchFamily="34" charset="-120"/>
              </a:rPr>
              <a:t>Se está sentando</a:t>
            </a:r>
            <a:endParaRPr lang="en-US" sz="1200" dirty="0"/>
          </a:p>
        </p:txBody>
      </p:sp>
      <p:sp>
        <p:nvSpPr>
          <p:cNvPr id="25" name="Shape 18"/>
          <p:cNvSpPr/>
          <p:nvPr/>
        </p:nvSpPr>
        <p:spPr>
          <a:xfrm>
            <a:off x="8944889" y="5422392"/>
            <a:ext cx="201168" cy="201168"/>
          </a:xfrm>
          <a:prstGeom prst="ellipse">
            <a:avLst/>
          </a:prstGeom>
          <a:solidFill>
            <a:srgbClr val="009E73"/>
          </a:solidFill>
          <a:ln w="9525">
            <a:solidFill>
              <a:srgbClr val="00573F"/>
            </a:solidFill>
            <a:prstDash val="solid"/>
          </a:ln>
        </p:spPr>
      </p:sp>
      <p:sp>
        <p:nvSpPr>
          <p:cNvPr id="26" name="Text 19"/>
          <p:cNvSpPr txBox="1"/>
          <p:nvPr/>
        </p:nvSpPr>
        <p:spPr>
          <a:xfrm>
            <a:off x="9264929" y="5404104"/>
            <a:ext cx="2332406" cy="256032"/>
          </a:xfrm>
          <a:prstGeom prst="rect">
            <a:avLst/>
          </a:prstGeom>
          <a:noFill/>
          <a:ln/>
        </p:spPr>
        <p:txBody>
          <a:bodyPr wrap="square" lIns="0" tIns="0" rIns="0" bIns="0" rtlCol="0" anchor="ctr"/>
          <a:lstStyle/>
          <a:p>
            <a:pPr indent="0" marL="0">
              <a:buNone/>
            </a:pPr>
            <a:r>
              <a:rPr lang="en-US" sz="1200" dirty="0">
                <a:solidFill>
                  <a:srgbClr val="555555"/>
                </a:solidFill>
                <a:latin typeface="Arial" pitchFamily="34" charset="0"/>
                <a:ea typeface="Arial" pitchFamily="34" charset="-122"/>
                <a:cs typeface="Arial" pitchFamily="34" charset="-120"/>
              </a:rPr>
              <a:t>Sentado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Resultados</a:t>
            </a:r>
            <a:endParaRPr lang="en-US" sz="1200" dirty="0"/>
          </a:p>
        </p:txBody>
      </p:sp>
      <p:sp>
        <p:nvSpPr>
          <p:cNvPr id="3" name="Text 1"/>
          <p:cNvSpPr txBox="1"/>
          <p:nvPr/>
        </p:nvSpPr>
        <p:spPr>
          <a:xfrm>
            <a:off x="548640" y="603504"/>
            <a:ext cx="11094415" cy="914400"/>
          </a:xfrm>
          <a:prstGeom prst="rect">
            <a:avLst/>
          </a:prstGeom>
          <a:noFill/>
          <a:ln/>
        </p:spPr>
        <p:txBody>
          <a:bodyPr wrap="square" lIns="0" tIns="0" rIns="0" bIns="0" rtlCol="0" anchor="t"/>
          <a:lstStyle/>
          <a:p>
            <a:pPr indent="0" marL="0">
              <a:lnSpc>
                <a:spcPct val="100000"/>
              </a:lnSpc>
              <a:buNone/>
            </a:pPr>
            <a:r>
              <a:rPr lang="en-US" sz="2600" b="1" dirty="0">
                <a:solidFill>
                  <a:srgbClr val="1A1A1A"/>
                </a:solidFill>
                <a:latin typeface="Arial" pitchFamily="34" charset="0"/>
                <a:ea typeface="Arial" pitchFamily="34" charset="-122"/>
                <a:cs typeface="Arial" pitchFamily="34" charset="-120"/>
              </a:rPr>
              <a:t>Steffen llena el avión en 23 minutos; Back‑to‑Front tarda 34,5</a:t>
            </a:r>
            <a:endParaRPr lang="en-US" sz="2600" dirty="0"/>
          </a:p>
        </p:txBody>
      </p:sp>
      <p:sp>
        <p:nvSpPr>
          <p:cNvPr id="4" name="Text 2"/>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8</a:t>
            </a:r>
            <a:endParaRPr lang="en-US" sz="1000" dirty="0"/>
          </a:p>
        </p:txBody>
      </p:sp>
      <p:sp>
        <p:nvSpPr>
          <p:cNvPr id="5" name="Text 3"/>
          <p:cNvSpPr txBox="1"/>
          <p:nvPr/>
        </p:nvSpPr>
        <p:spPr>
          <a:xfrm>
            <a:off x="548640" y="6419088"/>
            <a:ext cx="10180015" cy="228600"/>
          </a:xfrm>
          <a:prstGeom prst="rect">
            <a:avLst/>
          </a:prstGeom>
          <a:noFill/>
          <a:ln/>
        </p:spPr>
        <p:txBody>
          <a:bodyPr wrap="square" lIns="0" tIns="0" rIns="0" bIns="0" rtlCol="0" anchor="t"/>
          <a:lstStyle/>
          <a:p>
            <a:pPr indent="0" marL="0">
              <a:buNone/>
            </a:pPr>
            <a:r>
              <a:rPr lang="en-US" sz="1000" dirty="0">
                <a:solidFill>
                  <a:srgbClr val="8A8A8A"/>
                </a:solidFill>
                <a:latin typeface="Arial" pitchFamily="34" charset="0"/>
                <a:ea typeface="Arial" pitchFamily="34" charset="-122"/>
                <a:cs typeface="Arial" pitchFamily="34" charset="-120"/>
              </a:rPr>
              <a:t>Fuente: simulación propia · probabilidad de carry-on 0,5 · 1.000 corridas por política</a:t>
            </a:r>
            <a:endParaRPr lang="en-US" sz="1000" dirty="0"/>
          </a:p>
        </p:txBody>
      </p:sp>
      <p:pic>
        <p:nvPicPr>
          <p:cNvPr id="6" name="Image 0" descr="C:\Users\busta\AppData\Local\Temp\claude\c--Users-busta-OneDrive-Documentos-Di-Tella-ACN-TP1-aviones\a3a2136c-d18f-4667-8d04-71bc7f747630\scratchpad\presentacion\distribucion.png">    </p:cNvPr>
          <p:cNvPicPr>
            <a:picLocks noChangeAspect="1"/>
          </p:cNvPicPr>
          <p:nvPr/>
        </p:nvPicPr>
        <p:blipFill>
          <a:blip r:embed="rId1"/>
          <a:stretch>
            <a:fillRect/>
          </a:stretch>
        </p:blipFill>
        <p:spPr>
          <a:xfrm>
            <a:off x="548640" y="1234440"/>
            <a:ext cx="11094415" cy="4177621"/>
          </a:xfrm>
          <a:prstGeom prst="rect">
            <a:avLst/>
          </a:prstGeom>
        </p:spPr>
      </p:pic>
      <p:sp>
        <p:nvSpPr>
          <p:cNvPr id="7" name="Text 4"/>
          <p:cNvSpPr txBox="1"/>
          <p:nvPr/>
        </p:nvSpPr>
        <p:spPr>
          <a:xfrm>
            <a:off x="548640" y="5623560"/>
            <a:ext cx="11094415" cy="59436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Tiempo de llenado con p = 0,5. Cada punto es una simulación; la caja va del cuartil 1 al 3 y la línea punteada es la media. Con 10 corridas el orden ya se ve; con 1.000 las medias se estabilizan.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Resultados</a:t>
            </a:r>
            <a:endParaRPr lang="en-US" sz="1200" dirty="0"/>
          </a:p>
        </p:txBody>
      </p:sp>
      <p:sp>
        <p:nvSpPr>
          <p:cNvPr id="3" name="Text 1"/>
          <p:cNvSpPr txBox="1"/>
          <p:nvPr/>
        </p:nvSpPr>
        <p:spPr>
          <a:xfrm>
            <a:off x="548640" y="603504"/>
            <a:ext cx="11094415" cy="914400"/>
          </a:xfrm>
          <a:prstGeom prst="rect">
            <a:avLst/>
          </a:prstGeom>
          <a:noFill/>
          <a:ln/>
        </p:spPr>
        <p:txBody>
          <a:bodyPr wrap="square" lIns="0" tIns="0" rIns="0" bIns="0" rtlCol="0" anchor="t"/>
          <a:lstStyle/>
          <a:p>
            <a:pPr indent="0" marL="0">
              <a:lnSpc>
                <a:spcPct val="100000"/>
              </a:lnSpc>
              <a:buNone/>
            </a:pPr>
            <a:r>
              <a:rPr lang="en-US" sz="2600" b="1" dirty="0">
                <a:solidFill>
                  <a:srgbClr val="1A1A1A"/>
                </a:solidFill>
                <a:latin typeface="Arial" pitchFamily="34" charset="0"/>
                <a:ea typeface="Arial" pitchFamily="34" charset="-122"/>
                <a:cs typeface="Arial" pitchFamily="34" charset="-120"/>
              </a:rPr>
              <a:t>Con 1.000 corridas por política, el error de cada media es de 1 a 3 segundos</a:t>
            </a:r>
            <a:endParaRPr lang="en-US" sz="2600" dirty="0"/>
          </a:p>
        </p:txBody>
      </p:sp>
      <p:sp>
        <p:nvSpPr>
          <p:cNvPr id="4" name="Text 2"/>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9</a:t>
            </a:r>
            <a:endParaRPr lang="en-US" sz="1000" dirty="0"/>
          </a:p>
        </p:txBody>
      </p:sp>
      <p:sp>
        <p:nvSpPr>
          <p:cNvPr id="5" name="Text 3"/>
          <p:cNvSpPr txBox="1"/>
          <p:nvPr/>
        </p:nvSpPr>
        <p:spPr>
          <a:xfrm>
            <a:off x="548640" y="6419088"/>
            <a:ext cx="10180015" cy="228600"/>
          </a:xfrm>
          <a:prstGeom prst="rect">
            <a:avLst/>
          </a:prstGeom>
          <a:noFill/>
          <a:ln/>
        </p:spPr>
        <p:txBody>
          <a:bodyPr wrap="square" lIns="0" tIns="0" rIns="0" bIns="0" rtlCol="0" anchor="t"/>
          <a:lstStyle/>
          <a:p>
            <a:pPr indent="0" marL="0">
              <a:buNone/>
            </a:pPr>
            <a:r>
              <a:rPr lang="en-US" sz="1000" dirty="0">
                <a:solidFill>
                  <a:srgbClr val="8A8A8A"/>
                </a:solidFill>
                <a:latin typeface="Arial" pitchFamily="34" charset="0"/>
                <a:ea typeface="Arial" pitchFamily="34" charset="-122"/>
                <a:cs typeface="Arial" pitchFamily="34" charset="-120"/>
              </a:rPr>
              <a:t>Fuente: simulación propia · probabilidad de carry-on 0,5 · 1.000 corridas por política</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9144000" cy="914400"/>
        </p:xfrm>
        <a:graphic>
          <a:graphicData uri="http://schemas.openxmlformats.org/drawingml/2006/table">
            <a:tbl>
              <a:tblPr/>
              <a:tblGrid>
                <a:gridCol w="2377440"/>
                <a:gridCol w="1828800"/>
                <a:gridCol w="1554480"/>
                <a:gridCol w="1828800"/>
                <a:gridCol w="1645920"/>
                <a:gridCol w="1828800"/>
              </a:tblGrid>
              <a:tr h="438912">
                <a:tc>
                  <a:txBody>
                    <a:bodyPr/>
                    <a:lstStyle/>
                    <a:p>
                      <a:pPr algn="l" indent="0" marL="0">
                        <a:buNone/>
                      </a:pPr>
                      <a:r>
                        <a:rPr lang="en-US" sz="1200" b="1" dirty="0">
                          <a:solidFill>
                            <a:srgbClr val="1A1A1A"/>
                          </a:solidFill>
                          <a:latin typeface="Arial" pitchFamily="34" charset="0"/>
                          <a:ea typeface="Arial" pitchFamily="34" charset="-122"/>
                          <a:cs typeface="Arial" pitchFamily="34" charset="-120"/>
                        </a:rPr>
                        <a:t>Política</a:t>
                      </a:r>
                      <a:endParaRPr lang="en-US" sz="12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solidFill>
                      <a:srgbClr val="FCFCFB"/>
                    </a:solidFill>
                  </a:tcPr>
                </a:tc>
                <a:tc>
                  <a:txBody>
                    <a:bodyPr/>
                    <a:lstStyle/>
                    <a:p>
                      <a:pPr algn="r" indent="0" marL="0">
                        <a:buNone/>
                      </a:pPr>
                      <a:r>
                        <a:rPr lang="en-US" sz="1200" b="1" dirty="0">
                          <a:solidFill>
                            <a:srgbClr val="1A1A1A"/>
                          </a:solidFill>
                          <a:latin typeface="Arial" pitchFamily="34" charset="0"/>
                          <a:ea typeface="Arial" pitchFamily="34" charset="-122"/>
                          <a:cs typeface="Arial" pitchFamily="34" charset="-120"/>
                        </a:rPr>
                        <a:t>Tiempo medio</a:t>
                      </a:r>
                      <a:endParaRPr lang="en-US" sz="12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solidFill>
                      <a:srgbClr val="FCFCFB"/>
                    </a:solidFill>
                  </a:tcPr>
                </a:tc>
                <a:tc>
                  <a:txBody>
                    <a:bodyPr/>
                    <a:lstStyle/>
                    <a:p>
                      <a:pPr algn="r" indent="0" marL="0">
                        <a:buNone/>
                      </a:pPr>
                      <a:r>
                        <a:rPr lang="en-US" sz="1200" b="1" dirty="0">
                          <a:solidFill>
                            <a:srgbClr val="1A1A1A"/>
                          </a:solidFill>
                          <a:latin typeface="Arial" pitchFamily="34" charset="0"/>
                          <a:ea typeface="Arial" pitchFamily="34" charset="-122"/>
                          <a:cs typeface="Arial" pitchFamily="34" charset="-120"/>
                        </a:rPr>
                        <a:t>En minutos</a:t>
                      </a:r>
                      <a:endParaRPr lang="en-US" sz="12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solidFill>
                      <a:srgbClr val="FCFCFB"/>
                    </a:solidFill>
                  </a:tcPr>
                </a:tc>
                <a:tc>
                  <a:txBody>
                    <a:bodyPr/>
                    <a:lstStyle/>
                    <a:p>
                      <a:pPr algn="r" indent="0" marL="0">
                        <a:buNone/>
                      </a:pPr>
                      <a:r>
                        <a:rPr lang="en-US" sz="1200" b="1" dirty="0">
                          <a:solidFill>
                            <a:srgbClr val="1A1A1A"/>
                          </a:solidFill>
                          <a:latin typeface="Arial" pitchFamily="34" charset="0"/>
                          <a:ea typeface="Arial" pitchFamily="34" charset="-122"/>
                          <a:cs typeface="Arial" pitchFamily="34" charset="-120"/>
                        </a:rPr>
                        <a:t>Error de la media</a:t>
                      </a:r>
                      <a:endParaRPr lang="en-US" sz="12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solidFill>
                      <a:srgbClr val="FCFCFB"/>
                    </a:solidFill>
                  </a:tcPr>
                </a:tc>
                <a:tc>
                  <a:txBody>
                    <a:bodyPr/>
                    <a:lstStyle/>
                    <a:p>
                      <a:pPr algn="r" indent="0" marL="0">
                        <a:buNone/>
                      </a:pPr>
                      <a:r>
                        <a:rPr lang="en-US" sz="1200" b="1" dirty="0">
                          <a:solidFill>
                            <a:srgbClr val="1A1A1A"/>
                          </a:solidFill>
                          <a:latin typeface="Arial" pitchFamily="34" charset="0"/>
                          <a:ea typeface="Arial" pitchFamily="34" charset="-122"/>
                          <a:cs typeface="Arial" pitchFamily="34" charset="-120"/>
                        </a:rPr>
                        <a:t>Desvío</a:t>
                      </a:r>
                      <a:endParaRPr lang="en-US" sz="12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solidFill>
                      <a:srgbClr val="FCFCFB"/>
                    </a:solidFill>
                  </a:tcPr>
                </a:tc>
                <a:tc>
                  <a:txBody>
                    <a:bodyPr/>
                    <a:lstStyle/>
                    <a:p>
                      <a:pPr algn="r" indent="0" marL="0">
                        <a:buNone/>
                      </a:pPr>
                      <a:r>
                        <a:rPr lang="en-US" sz="1200" b="1" dirty="0">
                          <a:solidFill>
                            <a:srgbClr val="1A1A1A"/>
                          </a:solidFill>
                          <a:latin typeface="Arial" pitchFamily="34" charset="0"/>
                          <a:ea typeface="Arial" pitchFamily="34" charset="-122"/>
                          <a:cs typeface="Arial" pitchFamily="34" charset="-120"/>
                        </a:rPr>
                        <a:t>Error del desvío</a:t>
                      </a:r>
                      <a:endParaRPr lang="en-US" sz="12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solidFill>
                      <a:srgbClr val="FCFCFB"/>
                    </a:solidFill>
                  </a:tcPr>
                </a:tc>
              </a:tr>
              <a:tr h="438912">
                <a:tc>
                  <a:txBody>
                    <a:bodyPr/>
                    <a:lstStyle/>
                    <a:p>
                      <a:pPr algn="l" indent="0" marL="0">
                        <a:buNone/>
                      </a:pPr>
                      <a:r>
                        <a:rPr lang="en-US" sz="1300" dirty="0">
                          <a:solidFill>
                            <a:srgbClr val="1A1A1A"/>
                          </a:solidFill>
                          <a:latin typeface="Arial" pitchFamily="34" charset="0"/>
                          <a:ea typeface="Arial" pitchFamily="34" charset="-122"/>
                          <a:cs typeface="Arial" pitchFamily="34" charset="-120"/>
                        </a:rPr>
                        <a:t>Steffen</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1.385,3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23:05</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 0,9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26,9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 0,6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r h="438912">
                <a:tc>
                  <a:txBody>
                    <a:bodyPr/>
                    <a:lstStyle/>
                    <a:p>
                      <a:pPr algn="l" indent="0" marL="0">
                        <a:buNone/>
                      </a:pPr>
                      <a:r>
                        <a:rPr lang="en-US" sz="1300" dirty="0">
                          <a:solidFill>
                            <a:srgbClr val="1A1A1A"/>
                          </a:solidFill>
                          <a:latin typeface="Arial" pitchFamily="34" charset="0"/>
                          <a:ea typeface="Arial" pitchFamily="34" charset="-122"/>
                          <a:cs typeface="Arial" pitchFamily="34" charset="-120"/>
                        </a:rPr>
                        <a:t>WILMA</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1.582,3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26:22</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 1,7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54,1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 1,2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r h="438912">
                <a:tc>
                  <a:txBody>
                    <a:bodyPr/>
                    <a:lstStyle/>
                    <a:p>
                      <a:pPr algn="l" indent="0" marL="0">
                        <a:buNone/>
                      </a:pPr>
                      <a:r>
                        <a:rPr lang="en-US" sz="1300" dirty="0">
                          <a:solidFill>
                            <a:srgbClr val="1A1A1A"/>
                          </a:solidFill>
                          <a:latin typeface="Arial" pitchFamily="34" charset="0"/>
                          <a:ea typeface="Arial" pitchFamily="34" charset="-122"/>
                          <a:cs typeface="Arial" pitchFamily="34" charset="-120"/>
                        </a:rPr>
                        <a:t>B2F Ultimate</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1.721,9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28:42</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 2,3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72,0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 1,6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r h="438912">
                <a:tc>
                  <a:txBody>
                    <a:bodyPr/>
                    <a:lstStyle/>
                    <a:p>
                      <a:pPr algn="l" indent="0" marL="0">
                        <a:buNone/>
                      </a:pPr>
                      <a:r>
                        <a:rPr lang="en-US" sz="1300" dirty="0">
                          <a:solidFill>
                            <a:srgbClr val="1A1A1A"/>
                          </a:solidFill>
                          <a:latin typeface="Arial" pitchFamily="34" charset="0"/>
                          <a:ea typeface="Arial" pitchFamily="34" charset="-122"/>
                          <a:cs typeface="Arial" pitchFamily="34" charset="-120"/>
                        </a:rPr>
                        <a:t>Random</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1.725,0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28:45</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 2,1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67,8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 1,5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r h="438912">
                <a:tc>
                  <a:txBody>
                    <a:bodyPr/>
                    <a:lstStyle/>
                    <a:p>
                      <a:pPr algn="l" indent="0" marL="0">
                        <a:buNone/>
                      </a:pPr>
                      <a:r>
                        <a:rPr lang="en-US" sz="1300" dirty="0">
                          <a:solidFill>
                            <a:srgbClr val="1A1A1A"/>
                          </a:solidFill>
                          <a:latin typeface="Arial" pitchFamily="34" charset="0"/>
                          <a:ea typeface="Arial" pitchFamily="34" charset="-122"/>
                          <a:cs typeface="Arial" pitchFamily="34" charset="-120"/>
                        </a:rPr>
                        <a:t>Back‑to‑Front</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2.072,1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34:32</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 2,8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89,1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300" dirty="0">
                          <a:solidFill>
                            <a:srgbClr val="555555"/>
                          </a:solidFill>
                          <a:latin typeface="Arial" pitchFamily="34" charset="0"/>
                          <a:ea typeface="Arial" pitchFamily="34" charset="-122"/>
                          <a:cs typeface="Arial" pitchFamily="34" charset="-120"/>
                        </a:rPr>
                        <a:t>± 2,0 s</a:t>
                      </a:r>
                      <a:endParaRPr lang="en-US" sz="13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bl>
          </a:graphicData>
        </a:graphic>
      </p:graphicFrame>
      <p:sp>
        <p:nvSpPr>
          <p:cNvPr id="7" name="Text 4"/>
          <p:cNvSpPr txBox="1"/>
          <p:nvPr/>
        </p:nvSpPr>
        <p:spPr>
          <a:xfrm>
            <a:off x="548640" y="4709160"/>
            <a:ext cx="3454298"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El ranking es firme</a:t>
            </a:r>
            <a:endParaRPr lang="en-US" sz="1400" dirty="0"/>
          </a:p>
        </p:txBody>
      </p:sp>
      <p:sp>
        <p:nvSpPr>
          <p:cNvPr id="8" name="Text 5"/>
          <p:cNvSpPr txBox="1"/>
          <p:nvPr/>
        </p:nvSpPr>
        <p:spPr>
          <a:xfrm>
            <a:off x="548640" y="5074920"/>
            <a:ext cx="3454298" cy="137160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Las diferencias entre políticas son de minutos y los errores, de segundos. La excepción: Random y B2F Ultimate difieren en 3 s, lo mismo que su error. Empatan.</a:t>
            </a:r>
            <a:endParaRPr lang="en-US" sz="1250" dirty="0"/>
          </a:p>
        </p:txBody>
      </p:sp>
      <p:sp>
        <p:nvSpPr>
          <p:cNvPr id="9" name="Text 6"/>
          <p:cNvSpPr txBox="1"/>
          <p:nvPr/>
        </p:nvSpPr>
        <p:spPr>
          <a:xfrm>
            <a:off x="4368698" y="4709160"/>
            <a:ext cx="3454298"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Tiene sentido físico</a:t>
            </a:r>
            <a:endParaRPr lang="en-US" sz="1400" dirty="0"/>
          </a:p>
        </p:txBody>
      </p:sp>
      <p:sp>
        <p:nvSpPr>
          <p:cNvPr id="10" name="Text 7"/>
          <p:cNvSpPr txBox="1"/>
          <p:nvPr/>
        </p:nvSpPr>
        <p:spPr>
          <a:xfrm>
            <a:off x="4368698" y="5074920"/>
            <a:ext cx="3454298" cy="137160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Entre 23 y 35 minutos para 100 pasajeros: del orden de un embarque real de un avión de este tamaño.</a:t>
            </a:r>
            <a:endParaRPr lang="en-US" sz="1250" dirty="0"/>
          </a:p>
        </p:txBody>
      </p:sp>
      <p:sp>
        <p:nvSpPr>
          <p:cNvPr id="11" name="Text 8"/>
          <p:cNvSpPr txBox="1"/>
          <p:nvPr/>
        </p:nvSpPr>
        <p:spPr>
          <a:xfrm>
            <a:off x="8188757" y="4709160"/>
            <a:ext cx="3454298"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Cómo lo calculamos</a:t>
            </a:r>
            <a:endParaRPr lang="en-US" sz="1400" dirty="0"/>
          </a:p>
        </p:txBody>
      </p:sp>
      <p:sp>
        <p:nvSpPr>
          <p:cNvPr id="12" name="Text 9"/>
          <p:cNvSpPr txBox="1"/>
          <p:nvPr/>
        </p:nvSpPr>
        <p:spPr>
          <a:xfrm>
            <a:off x="8188757" y="5074920"/>
            <a:ext cx="3454298" cy="137160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Desvío muestral, con n − 1.</a:t>
            </a:r>
            <a:endParaRPr lang="en-US" sz="1250" dirty="0"/>
          </a:p>
          <a:p>
            <a:pPr indent="0" marL="0">
              <a:buNone/>
            </a:pPr>
            <a:r>
              <a:rPr lang="en-US" sz="1250" dirty="0">
                <a:solidFill>
                  <a:srgbClr val="555555"/>
                </a:solidFill>
                <a:latin typeface="Arial" pitchFamily="34" charset="0"/>
                <a:ea typeface="Arial" pitchFamily="34" charset="-122"/>
                <a:cs typeface="Arial" pitchFamily="34" charset="-120"/>
              </a:rPr>
              <a:t>Error de la media = desvío / √n.</a:t>
            </a:r>
            <a:endParaRPr lang="en-US" sz="1250" dirty="0"/>
          </a:p>
          <a:p>
            <a:pPr indent="0" marL="0">
              <a:buNone/>
            </a:pPr>
            <a:r>
              <a:rPr lang="en-US" sz="1250" dirty="0">
                <a:solidFill>
                  <a:srgbClr val="555555"/>
                </a:solidFill>
                <a:latin typeface="Arial" pitchFamily="34" charset="0"/>
                <a:ea typeface="Arial" pitchFamily="34" charset="-122"/>
                <a:cs typeface="Arial" pitchFamily="34" charset="-120"/>
              </a:rPr>
              <a:t>Error del desvío ≈ desvío / √(2n).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Carry-on</a:t>
            </a:r>
            <a:endParaRPr lang="en-US" sz="1200" dirty="0"/>
          </a:p>
        </p:txBody>
      </p:sp>
      <p:sp>
        <p:nvSpPr>
          <p:cNvPr id="3" name="Text 1"/>
          <p:cNvSpPr txBox="1"/>
          <p:nvPr/>
        </p:nvSpPr>
        <p:spPr>
          <a:xfrm>
            <a:off x="548640" y="603504"/>
            <a:ext cx="11094415" cy="914400"/>
          </a:xfrm>
          <a:prstGeom prst="rect">
            <a:avLst/>
          </a:prstGeom>
          <a:noFill/>
          <a:ln/>
        </p:spPr>
        <p:txBody>
          <a:bodyPr wrap="square" lIns="0" tIns="0" rIns="0" bIns="0" rtlCol="0" anchor="t"/>
          <a:lstStyle/>
          <a:p>
            <a:pPr indent="0" marL="0">
              <a:lnSpc>
                <a:spcPct val="100000"/>
              </a:lnSpc>
              <a:buNone/>
            </a:pPr>
            <a:r>
              <a:rPr lang="en-US" sz="2600" b="1" dirty="0">
                <a:solidFill>
                  <a:srgbClr val="1A1A1A"/>
                </a:solidFill>
                <a:latin typeface="Arial" pitchFamily="34" charset="0"/>
                <a:ea typeface="Arial" pitchFamily="34" charset="-122"/>
                <a:cs typeface="Arial" pitchFamily="34" charset="-120"/>
              </a:rPr>
              <a:t>Cuanto más carry-on, más se separan las políticas</a:t>
            </a:r>
            <a:endParaRPr lang="en-US" sz="2600" dirty="0"/>
          </a:p>
        </p:txBody>
      </p:sp>
      <p:sp>
        <p:nvSpPr>
          <p:cNvPr id="4" name="Text 2"/>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10</a:t>
            </a:r>
            <a:endParaRPr lang="en-US" sz="1000" dirty="0"/>
          </a:p>
        </p:txBody>
      </p:sp>
      <p:sp>
        <p:nvSpPr>
          <p:cNvPr id="5" name="Text 3"/>
          <p:cNvSpPr txBox="1"/>
          <p:nvPr/>
        </p:nvSpPr>
        <p:spPr>
          <a:xfrm>
            <a:off x="548640" y="6419088"/>
            <a:ext cx="10180015" cy="228600"/>
          </a:xfrm>
          <a:prstGeom prst="rect">
            <a:avLst/>
          </a:prstGeom>
          <a:noFill/>
          <a:ln/>
        </p:spPr>
        <p:txBody>
          <a:bodyPr wrap="square" lIns="0" tIns="0" rIns="0" bIns="0" rtlCol="0" anchor="t"/>
          <a:lstStyle/>
          <a:p>
            <a:pPr indent="0" marL="0">
              <a:buNone/>
            </a:pPr>
            <a:r>
              <a:rPr lang="en-US" sz="1000" dirty="0">
                <a:solidFill>
                  <a:srgbClr val="8A8A8A"/>
                </a:solidFill>
                <a:latin typeface="Arial" pitchFamily="34" charset="0"/>
                <a:ea typeface="Arial" pitchFamily="34" charset="-122"/>
                <a:cs typeface="Arial" pitchFamily="34" charset="-120"/>
              </a:rPr>
              <a:t>Fuente: simulación propia · 1.000 corridas por punto</a:t>
            </a:r>
            <a:endParaRPr lang="en-US" sz="1000" dirty="0"/>
          </a:p>
        </p:txBody>
      </p:sp>
      <p:pic>
        <p:nvPicPr>
          <p:cNvPr id="6" name="Image 0" descr="C:\Users\busta\AppData\Local\Temp\claude\c--Users-busta-OneDrive-Documentos-Di-Tella-ACN-TP1-aviones\a3a2136c-d18f-4667-8d04-71bc7f747630\scratchpad\presentacion\carryon_barrido.png">    </p:cNvPr>
          <p:cNvPicPr>
            <a:picLocks noChangeAspect="1"/>
          </p:cNvPicPr>
          <p:nvPr/>
        </p:nvPicPr>
        <p:blipFill>
          <a:blip r:embed="rId1"/>
          <a:stretch>
            <a:fillRect/>
          </a:stretch>
        </p:blipFill>
        <p:spPr>
          <a:xfrm>
            <a:off x="777912" y="1234440"/>
            <a:ext cx="10635872" cy="4297680"/>
          </a:xfrm>
          <a:prstGeom prst="rect">
            <a:avLst/>
          </a:prstGeom>
        </p:spPr>
      </p:pic>
      <p:sp>
        <p:nvSpPr>
          <p:cNvPr id="7" name="Text 4"/>
          <p:cNvSpPr txBox="1"/>
          <p:nvPr/>
        </p:nvSpPr>
        <p:spPr>
          <a:xfrm>
            <a:off x="548640" y="5669280"/>
            <a:ext cx="11094415" cy="59436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Izquierda: tiempo medio. Derecha: desvío. Sin carry-on, Steffen es determinista: da exactamente el mismo tiempo en las 1.000 corridas, porque el orden ya está fijado y la valija es la única fuente de azar.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Carry-on</a:t>
            </a:r>
            <a:endParaRPr lang="en-US" sz="1200" dirty="0"/>
          </a:p>
        </p:txBody>
      </p:sp>
      <p:sp>
        <p:nvSpPr>
          <p:cNvPr id="3" name="Text 1"/>
          <p:cNvSpPr txBox="1"/>
          <p:nvPr/>
        </p:nvSpPr>
        <p:spPr>
          <a:xfrm>
            <a:off x="548640" y="603504"/>
            <a:ext cx="11094415" cy="914400"/>
          </a:xfrm>
          <a:prstGeom prst="rect">
            <a:avLst/>
          </a:prstGeom>
          <a:noFill/>
          <a:ln/>
        </p:spPr>
        <p:txBody>
          <a:bodyPr wrap="square" lIns="0" tIns="0" rIns="0" bIns="0" rtlCol="0" anchor="t"/>
          <a:lstStyle/>
          <a:p>
            <a:pPr indent="0" marL="0">
              <a:lnSpc>
                <a:spcPct val="100000"/>
              </a:lnSpc>
              <a:buNone/>
            </a:pPr>
            <a:r>
              <a:rPr lang="en-US" sz="2600" b="1" dirty="0">
                <a:solidFill>
                  <a:srgbClr val="1A1A1A"/>
                </a:solidFill>
                <a:latin typeface="Arial" pitchFamily="34" charset="0"/>
                <a:ea typeface="Arial" pitchFamily="34" charset="-122"/>
                <a:cs typeface="Arial" pitchFamily="34" charset="-120"/>
              </a:rPr>
              <a:t>Si todos llevan valija, Back‑to‑Front pasa de 21 a 46 minutos</a:t>
            </a:r>
            <a:endParaRPr lang="en-US" sz="2600" dirty="0"/>
          </a:p>
        </p:txBody>
      </p:sp>
      <p:sp>
        <p:nvSpPr>
          <p:cNvPr id="4" name="Text 2"/>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11</a:t>
            </a:r>
            <a:endParaRPr lang="en-US" sz="1000" dirty="0"/>
          </a:p>
        </p:txBody>
      </p:sp>
      <p:sp>
        <p:nvSpPr>
          <p:cNvPr id="5" name="Text 3"/>
          <p:cNvSpPr txBox="1"/>
          <p:nvPr/>
        </p:nvSpPr>
        <p:spPr>
          <a:xfrm>
            <a:off x="548640" y="6419088"/>
            <a:ext cx="10180015" cy="228600"/>
          </a:xfrm>
          <a:prstGeom prst="rect">
            <a:avLst/>
          </a:prstGeom>
          <a:noFill/>
          <a:ln/>
        </p:spPr>
        <p:txBody>
          <a:bodyPr wrap="square" lIns="0" tIns="0" rIns="0" bIns="0" rtlCol="0" anchor="t"/>
          <a:lstStyle/>
          <a:p>
            <a:pPr indent="0" marL="0">
              <a:buNone/>
            </a:pPr>
            <a:r>
              <a:rPr lang="en-US" sz="1000" dirty="0">
                <a:solidFill>
                  <a:srgbClr val="8A8A8A"/>
                </a:solidFill>
                <a:latin typeface="Arial" pitchFamily="34" charset="0"/>
                <a:ea typeface="Arial" pitchFamily="34" charset="-122"/>
                <a:cs typeface="Arial" pitchFamily="34" charset="-120"/>
              </a:rPr>
              <a:t>Fuente: simulación propia · 1.000 corridas por punto</a:t>
            </a:r>
            <a:endParaRPr lang="en-US" sz="1000" dirty="0"/>
          </a:p>
        </p:txBody>
      </p:sp>
      <p:pic>
        <p:nvPicPr>
          <p:cNvPr id="6" name="Image 0" descr="C:\Users\busta\AppData\Local\Temp\claude\c--Users-busta-OneDrive-Documentos-Di-Tella-ACN-TP1-aviones\a3a2136c-d18f-4667-8d04-71bc7f747630\scratchpad\presentacion\carryon_extremos.png">    </p:cNvPr>
          <p:cNvPicPr>
            <a:picLocks noChangeAspect="1"/>
          </p:cNvPicPr>
          <p:nvPr/>
        </p:nvPicPr>
        <p:blipFill>
          <a:blip r:embed="rId1"/>
          <a:stretch>
            <a:fillRect/>
          </a:stretch>
        </p:blipFill>
        <p:spPr>
          <a:xfrm>
            <a:off x="1057980" y="1280160"/>
            <a:ext cx="10075735" cy="4251960"/>
          </a:xfrm>
          <a:prstGeom prst="rect">
            <a:avLst/>
          </a:prstGeom>
        </p:spPr>
      </p:pic>
      <p:sp>
        <p:nvSpPr>
          <p:cNvPr id="7" name="Text 4"/>
          <p:cNvSpPr txBox="1"/>
          <p:nvPr/>
        </p:nvSpPr>
        <p:spPr>
          <a:xfrm>
            <a:off x="548640" y="5669280"/>
            <a:ext cx="11094415" cy="59436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Los dos extremos que pide el enunciado: nadie lleva carry-on (p = 0) y todos llevan (p = 1). Steffen es la que menos empeora (+67%); Back‑to‑Front, la que más (+125%).</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Plazas vacías</a:t>
            </a:r>
            <a:endParaRPr lang="en-US" sz="1200" dirty="0"/>
          </a:p>
        </p:txBody>
      </p:sp>
      <p:sp>
        <p:nvSpPr>
          <p:cNvPr id="3" name="Text 1"/>
          <p:cNvSpPr txBox="1"/>
          <p:nvPr/>
        </p:nvSpPr>
        <p:spPr>
          <a:xfrm>
            <a:off x="548640" y="603504"/>
            <a:ext cx="11094415" cy="914400"/>
          </a:xfrm>
          <a:prstGeom prst="rect">
            <a:avLst/>
          </a:prstGeom>
          <a:noFill/>
          <a:ln/>
        </p:spPr>
        <p:txBody>
          <a:bodyPr wrap="square" lIns="0" tIns="0" rIns="0" bIns="0" rtlCol="0" anchor="t"/>
          <a:lstStyle/>
          <a:p>
            <a:pPr indent="0" marL="0">
              <a:lnSpc>
                <a:spcPct val="100000"/>
              </a:lnSpc>
              <a:buNone/>
            </a:pPr>
            <a:r>
              <a:rPr lang="en-US" sz="2600" b="1" dirty="0">
                <a:solidFill>
                  <a:srgbClr val="1A1A1A"/>
                </a:solidFill>
                <a:latin typeface="Arial" pitchFamily="34" charset="0"/>
                <a:ea typeface="Arial" pitchFamily="34" charset="-122"/>
                <a:cs typeface="Arial" pitchFamily="34" charset="-120"/>
              </a:rPr>
              <a:t>Volar con 20 asientos vacíos ahorra entre 4 y 7 minutos: lo mismo que pasar de Back‑to‑Front a WILMA</a:t>
            </a:r>
            <a:endParaRPr lang="en-US" sz="2600" dirty="0"/>
          </a:p>
        </p:txBody>
      </p:sp>
      <p:sp>
        <p:nvSpPr>
          <p:cNvPr id="4" name="Text 2"/>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12</a:t>
            </a:r>
            <a:endParaRPr lang="en-US" sz="1000" dirty="0"/>
          </a:p>
        </p:txBody>
      </p:sp>
      <p:sp>
        <p:nvSpPr>
          <p:cNvPr id="5" name="Text 3"/>
          <p:cNvSpPr txBox="1"/>
          <p:nvPr/>
        </p:nvSpPr>
        <p:spPr>
          <a:xfrm>
            <a:off x="548640" y="6419088"/>
            <a:ext cx="10180015" cy="228600"/>
          </a:xfrm>
          <a:prstGeom prst="rect">
            <a:avLst/>
          </a:prstGeom>
          <a:noFill/>
          <a:ln/>
        </p:spPr>
        <p:txBody>
          <a:bodyPr wrap="square" lIns="0" tIns="0" rIns="0" bIns="0" rtlCol="0" anchor="t"/>
          <a:lstStyle/>
          <a:p>
            <a:pPr indent="0" marL="0">
              <a:buNone/>
            </a:pPr>
            <a:r>
              <a:rPr lang="en-US" sz="1000" dirty="0">
                <a:solidFill>
                  <a:srgbClr val="8A8A8A"/>
                </a:solidFill>
                <a:latin typeface="Arial" pitchFamily="34" charset="0"/>
                <a:ea typeface="Arial" pitchFamily="34" charset="-122"/>
                <a:cs typeface="Arial" pitchFamily="34" charset="-120"/>
              </a:rPr>
              <a:t>Fuente: simulación propia · probabilidad de carry-on 0,5</a:t>
            </a:r>
            <a:endParaRPr lang="en-US" sz="1000" dirty="0"/>
          </a:p>
        </p:txBody>
      </p:sp>
      <p:pic>
        <p:nvPicPr>
          <p:cNvPr id="6" name="Image 0" descr="C:\Users\busta\AppData\Local\Temp\claude\c--Users-busta-OneDrive-Documentos-Di-Tella-ACN-TP1-aviones\a3a2136c-d18f-4667-8d04-71bc7f747630\scratchpad\presentacion\ocupacion.png">    </p:cNvPr>
          <p:cNvPicPr>
            <a:picLocks noChangeAspect="1"/>
          </p:cNvPicPr>
          <p:nvPr/>
        </p:nvPicPr>
        <p:blipFill>
          <a:blip r:embed="rId1"/>
          <a:stretch>
            <a:fillRect/>
          </a:stretch>
        </p:blipFill>
        <p:spPr>
          <a:xfrm>
            <a:off x="548640" y="1691640"/>
            <a:ext cx="6728474" cy="4526280"/>
          </a:xfrm>
          <a:prstGeom prst="rect">
            <a:avLst/>
          </a:prstGeom>
        </p:spPr>
      </p:pic>
      <p:sp>
        <p:nvSpPr>
          <p:cNvPr id="7" name="Text 4"/>
          <p:cNvSpPr txBox="1"/>
          <p:nvPr/>
        </p:nvSpPr>
        <p:spPr>
          <a:xfrm>
            <a:off x="7688594" y="1783080"/>
            <a:ext cx="3954462"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Qué probamos</a:t>
            </a:r>
            <a:endParaRPr lang="en-US" sz="1400" dirty="0"/>
          </a:p>
        </p:txBody>
      </p:sp>
      <p:sp>
        <p:nvSpPr>
          <p:cNvPr id="8" name="Text 5"/>
          <p:cNvSpPr txBox="1"/>
          <p:nvPr/>
        </p:nvSpPr>
        <p:spPr>
          <a:xfrm>
            <a:off x="7688594" y="2148840"/>
            <a:ext cx="3954462" cy="100584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Dejar de 4 a 20 asientos vacíos de cuatro maneras: al azar, bloqueando pasillos, bloqueando ventanas o vaciando las últimas filas.</a:t>
            </a:r>
            <a:endParaRPr lang="en-US" sz="1250" dirty="0"/>
          </a:p>
        </p:txBody>
      </p:sp>
      <p:sp>
        <p:nvSpPr>
          <p:cNvPr id="9" name="Text 6"/>
          <p:cNvSpPr txBox="1"/>
          <p:nvPr/>
        </p:nvSpPr>
        <p:spPr>
          <a:xfrm>
            <a:off x="7688594" y="3246120"/>
            <a:ext cx="3954462"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Qué encontramos</a:t>
            </a:r>
            <a:endParaRPr lang="en-US" sz="1400" dirty="0"/>
          </a:p>
        </p:txBody>
      </p:sp>
      <p:sp>
        <p:nvSpPr>
          <p:cNvPr id="10" name="Text 7"/>
          <p:cNvSpPr txBox="1"/>
          <p:nvPr/>
        </p:nvSpPr>
        <p:spPr>
          <a:xfrm>
            <a:off x="7688594" y="3611880"/>
            <a:ext cx="3954462" cy="100584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Cada asiento vacío ahorra entre 14 y 22 segundos. Cuáles se vacían cambia poco.</a:t>
            </a:r>
            <a:endParaRPr lang="en-US" sz="1250" dirty="0"/>
          </a:p>
        </p:txBody>
      </p:sp>
      <p:sp>
        <p:nvSpPr>
          <p:cNvPr id="11" name="Text 8"/>
          <p:cNvSpPr txBox="1"/>
          <p:nvPr/>
        </p:nvSpPr>
        <p:spPr>
          <a:xfrm>
            <a:off x="7688594" y="4709160"/>
            <a:ext cx="3954462"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La comparación que importa</a:t>
            </a:r>
            <a:endParaRPr lang="en-US" sz="1400" dirty="0"/>
          </a:p>
        </p:txBody>
      </p:sp>
      <p:sp>
        <p:nvSpPr>
          <p:cNvPr id="12" name="Text 9"/>
          <p:cNvSpPr txBox="1"/>
          <p:nvPr/>
        </p:nvSpPr>
        <p:spPr>
          <a:xfrm>
            <a:off x="7688594" y="5074920"/>
            <a:ext cx="3954462" cy="100584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Back‑to‑Front con 20 asientos vacíos tarda lo mismo que WILMA con el avión lleno: unos 26 minutos.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Costos</a:t>
            </a:r>
            <a:endParaRPr lang="en-US" sz="1200" dirty="0"/>
          </a:p>
        </p:txBody>
      </p:sp>
      <p:sp>
        <p:nvSpPr>
          <p:cNvPr id="3" name="Text 1"/>
          <p:cNvSpPr txBox="1"/>
          <p:nvPr/>
        </p:nvSpPr>
        <p:spPr>
          <a:xfrm>
            <a:off x="548640" y="603504"/>
            <a:ext cx="11094415" cy="914400"/>
          </a:xfrm>
          <a:prstGeom prst="rect">
            <a:avLst/>
          </a:prstGeom>
          <a:noFill/>
          <a:ln/>
        </p:spPr>
        <p:txBody>
          <a:bodyPr wrap="square" lIns="0" tIns="0" rIns="0" bIns="0" rtlCol="0" anchor="t"/>
          <a:lstStyle/>
          <a:p>
            <a:pPr indent="0" marL="0">
              <a:lnSpc>
                <a:spcPct val="100000"/>
              </a:lnSpc>
              <a:buNone/>
            </a:pPr>
            <a:r>
              <a:rPr lang="en-US" sz="2600" b="1" dirty="0">
                <a:solidFill>
                  <a:srgbClr val="1A1A1A"/>
                </a:solidFill>
                <a:latin typeface="Arial" pitchFamily="34" charset="0"/>
                <a:ea typeface="Arial" pitchFamily="34" charset="-122"/>
                <a:cs typeface="Arial" pitchFamily="34" charset="-120"/>
              </a:rPr>
              <a:t>Una demora de 30 minutos cuesta USD 2.550, pero dejar asientos vacíos nunca se paga solo</a:t>
            </a:r>
            <a:endParaRPr lang="en-US" sz="2600" dirty="0"/>
          </a:p>
        </p:txBody>
      </p:sp>
      <p:sp>
        <p:nvSpPr>
          <p:cNvPr id="4" name="Text 2"/>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13</a:t>
            </a:r>
            <a:endParaRPr lang="en-US" sz="1000" dirty="0"/>
          </a:p>
        </p:txBody>
      </p:sp>
      <p:sp>
        <p:nvSpPr>
          <p:cNvPr id="5" name="Text 3"/>
          <p:cNvSpPr txBox="1"/>
          <p:nvPr/>
        </p:nvSpPr>
        <p:spPr>
          <a:xfrm>
            <a:off x="548640" y="6419088"/>
            <a:ext cx="10180015" cy="228600"/>
          </a:xfrm>
          <a:prstGeom prst="rect">
            <a:avLst/>
          </a:prstGeom>
          <a:noFill/>
          <a:ln/>
        </p:spPr>
        <p:txBody>
          <a:bodyPr wrap="square" lIns="0" tIns="0" rIns="0" bIns="0" rtlCol="0" anchor="t"/>
          <a:lstStyle/>
          <a:p>
            <a:pPr indent="0" marL="0">
              <a:buNone/>
            </a:pPr>
            <a:r>
              <a:rPr lang="en-US" sz="1000" dirty="0">
                <a:solidFill>
                  <a:srgbClr val="8A8A8A"/>
                </a:solidFill>
                <a:latin typeface="Arial" pitchFamily="34" charset="0"/>
                <a:ea typeface="Arial" pitchFamily="34" charset="-122"/>
                <a:cs typeface="Arial" pitchFamily="34" charset="-120"/>
              </a:rPr>
              <a:t>Supuestos: USD 85 por minuto de demora y USD 150 por asiento · estrategia: bloquear asientos de ventana</a:t>
            </a:r>
            <a:endParaRPr lang="en-US" sz="1000" dirty="0"/>
          </a:p>
        </p:txBody>
      </p:sp>
      <p:pic>
        <p:nvPicPr>
          <p:cNvPr id="6" name="Image 0" descr="C:\Users\busta\AppData\Local\Temp\claude\c--Users-busta-OneDrive-Documentos-Di-Tella-ACN-TP1-aviones\a3a2136c-d18f-4667-8d04-71bc7f747630\scratchpad\presentacion\beneficio.png">    </p:cNvPr>
          <p:cNvPicPr>
            <a:picLocks noChangeAspect="1"/>
          </p:cNvPicPr>
          <p:nvPr/>
        </p:nvPicPr>
        <p:blipFill>
          <a:blip r:embed="rId1"/>
          <a:stretch>
            <a:fillRect/>
          </a:stretch>
        </p:blipFill>
        <p:spPr>
          <a:xfrm>
            <a:off x="548640" y="1828800"/>
            <a:ext cx="7315200" cy="3848083"/>
          </a:xfrm>
          <a:prstGeom prst="rect">
            <a:avLst/>
          </a:prstGeom>
        </p:spPr>
      </p:pic>
      <p:sp>
        <p:nvSpPr>
          <p:cNvPr id="7" name="Text 4"/>
          <p:cNvSpPr txBox="1"/>
          <p:nvPr/>
        </p:nvSpPr>
        <p:spPr>
          <a:xfrm>
            <a:off x="8321040" y="1874520"/>
            <a:ext cx="3322015" cy="640080"/>
          </a:xfrm>
          <a:prstGeom prst="rect">
            <a:avLst/>
          </a:prstGeom>
          <a:noFill/>
          <a:ln/>
        </p:spPr>
        <p:txBody>
          <a:bodyPr wrap="square" lIns="0" tIns="0" rIns="0" bIns="0" rtlCol="0" anchor="t"/>
          <a:lstStyle/>
          <a:p>
            <a:pPr indent="0" marL="0">
              <a:buNone/>
            </a:pPr>
            <a:r>
              <a:rPr lang="en-US" sz="3600" b="1" dirty="0">
                <a:solidFill>
                  <a:srgbClr val="1A1A1A"/>
                </a:solidFill>
                <a:latin typeface="Arial" pitchFamily="34" charset="0"/>
                <a:ea typeface="Arial" pitchFamily="34" charset="-122"/>
                <a:cs typeface="Arial" pitchFamily="34" charset="-120"/>
              </a:rPr>
              <a:t>USD 2.550</a:t>
            </a:r>
            <a:endParaRPr lang="en-US" sz="3600" dirty="0"/>
          </a:p>
        </p:txBody>
      </p:sp>
      <p:sp>
        <p:nvSpPr>
          <p:cNvPr id="8" name="Text 5"/>
          <p:cNvSpPr txBox="1"/>
          <p:nvPr/>
        </p:nvSpPr>
        <p:spPr>
          <a:xfrm>
            <a:off x="8321040" y="2560320"/>
            <a:ext cx="3322015" cy="54864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cuestan 30 minutos de demora, a USD 85 por minuto.</a:t>
            </a:r>
            <a:endParaRPr lang="en-US" sz="1250" dirty="0"/>
          </a:p>
        </p:txBody>
      </p:sp>
      <p:sp>
        <p:nvSpPr>
          <p:cNvPr id="9" name="Text 6"/>
          <p:cNvSpPr txBox="1"/>
          <p:nvPr/>
        </p:nvSpPr>
        <p:spPr>
          <a:xfrm>
            <a:off x="8321040" y="3337560"/>
            <a:ext cx="3322015" cy="457200"/>
          </a:xfrm>
          <a:prstGeom prst="rect">
            <a:avLst/>
          </a:prstGeom>
          <a:noFill/>
          <a:ln/>
        </p:spPr>
        <p:txBody>
          <a:bodyPr wrap="square" lIns="0" tIns="0" rIns="0" bIns="0" rtlCol="0" anchor="t"/>
          <a:lstStyle/>
          <a:p>
            <a:pPr indent="0" marL="0">
              <a:buNone/>
            </a:pPr>
            <a:r>
              <a:rPr lang="en-US" sz="1800" b="1" dirty="0">
                <a:solidFill>
                  <a:srgbClr val="1A1A1A"/>
                </a:solidFill>
                <a:latin typeface="Arial" pitchFamily="34" charset="0"/>
                <a:ea typeface="Arial" pitchFamily="34" charset="-122"/>
                <a:cs typeface="Arial" pitchFamily="34" charset="-120"/>
              </a:rPr>
              <a:t>USD 150 contra USD 20–40</a:t>
            </a:r>
            <a:endParaRPr lang="en-US" sz="1800" dirty="0"/>
          </a:p>
        </p:txBody>
      </p:sp>
      <p:sp>
        <p:nvSpPr>
          <p:cNvPr id="10" name="Text 7"/>
          <p:cNvSpPr txBox="1"/>
          <p:nvPr/>
        </p:nvSpPr>
        <p:spPr>
          <a:xfrm>
            <a:off x="8321040" y="3794760"/>
            <a:ext cx="3322015" cy="91440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Un asiento vendido vale USD 150. El tiempo que se ahorra al dejarlo vacío vale entre USD 20 y 40.</a:t>
            </a:r>
            <a:endParaRPr lang="en-US" sz="1250" dirty="0"/>
          </a:p>
        </p:txBody>
      </p:sp>
      <p:sp>
        <p:nvSpPr>
          <p:cNvPr id="11" name="Text 8"/>
          <p:cNvSpPr txBox="1"/>
          <p:nvPr/>
        </p:nvSpPr>
        <p:spPr>
          <a:xfrm>
            <a:off x="8321040" y="4892040"/>
            <a:ext cx="3322015"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Conclusión</a:t>
            </a:r>
            <a:endParaRPr lang="en-US" sz="1400" dirty="0"/>
          </a:p>
        </p:txBody>
      </p:sp>
      <p:sp>
        <p:nvSpPr>
          <p:cNvPr id="12" name="Text 9"/>
          <p:cNvSpPr txBox="1"/>
          <p:nvPr/>
        </p:nvSpPr>
        <p:spPr>
          <a:xfrm>
            <a:off x="8321040" y="5257800"/>
            <a:ext cx="3322015" cy="82296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Conviene llenar el avión y ordenar mejor el embarque: ahorra tiempo sin resignar ingresos.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Bonus · embarque prioritario</a:t>
            </a:r>
            <a:endParaRPr lang="en-US" sz="1200" dirty="0"/>
          </a:p>
        </p:txBody>
      </p:sp>
      <p:sp>
        <p:nvSpPr>
          <p:cNvPr id="3" name="Text 1"/>
          <p:cNvSpPr txBox="1"/>
          <p:nvPr/>
        </p:nvSpPr>
        <p:spPr>
          <a:xfrm>
            <a:off x="548640" y="603504"/>
            <a:ext cx="11094415" cy="914400"/>
          </a:xfrm>
          <a:prstGeom prst="rect">
            <a:avLst/>
          </a:prstGeom>
          <a:noFill/>
          <a:ln/>
        </p:spPr>
        <p:txBody>
          <a:bodyPr wrap="square" lIns="0" tIns="0" rIns="0" bIns="0" rtlCol="0" anchor="t"/>
          <a:lstStyle/>
          <a:p>
            <a:pPr indent="0" marL="0">
              <a:lnSpc>
                <a:spcPct val="100000"/>
              </a:lnSpc>
              <a:buNone/>
            </a:pPr>
            <a:r>
              <a:rPr lang="en-US" sz="2600" b="1" dirty="0">
                <a:solidFill>
                  <a:srgbClr val="1A1A1A"/>
                </a:solidFill>
                <a:latin typeface="Arial" pitchFamily="34" charset="0"/>
                <a:ea typeface="Arial" pitchFamily="34" charset="-122"/>
                <a:cs typeface="Arial" pitchFamily="34" charset="-120"/>
              </a:rPr>
              <a:t>Vender embarque prioritario le cuesta más a la mejor política</a:t>
            </a:r>
            <a:endParaRPr lang="en-US" sz="2600" dirty="0"/>
          </a:p>
        </p:txBody>
      </p:sp>
      <p:sp>
        <p:nvSpPr>
          <p:cNvPr id="4" name="Text 2"/>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14</a:t>
            </a:r>
            <a:endParaRPr lang="en-US" sz="1000" dirty="0"/>
          </a:p>
        </p:txBody>
      </p:sp>
      <p:sp>
        <p:nvSpPr>
          <p:cNvPr id="5" name="Text 3"/>
          <p:cNvSpPr txBox="1"/>
          <p:nvPr/>
        </p:nvSpPr>
        <p:spPr>
          <a:xfrm>
            <a:off x="548640" y="6419088"/>
            <a:ext cx="10180015" cy="228600"/>
          </a:xfrm>
          <a:prstGeom prst="rect">
            <a:avLst/>
          </a:prstGeom>
          <a:noFill/>
          <a:ln/>
        </p:spPr>
        <p:txBody>
          <a:bodyPr wrap="square" lIns="0" tIns="0" rIns="0" bIns="0" rtlCol="0" anchor="t"/>
          <a:lstStyle/>
          <a:p>
            <a:pPr indent="0" marL="0">
              <a:buNone/>
            </a:pPr>
            <a:r>
              <a:rPr lang="en-US" sz="1000" dirty="0">
                <a:solidFill>
                  <a:srgbClr val="8A8A8A"/>
                </a:solidFill>
                <a:latin typeface="Arial" pitchFamily="34" charset="0"/>
                <a:ea typeface="Arial" pitchFamily="34" charset="-122"/>
                <a:cs typeface="Arial" pitchFamily="34" charset="-120"/>
              </a:rPr>
              <a:t>Fuente: simulación propia · probabilidad de carry-on 0,5 · 400 corridas por punto · USD 85 por minuto</a:t>
            </a:r>
            <a:endParaRPr lang="en-US" sz="1000" dirty="0"/>
          </a:p>
        </p:txBody>
      </p:sp>
      <p:pic>
        <p:nvPicPr>
          <p:cNvPr id="6" name="Image 0" descr="C:\Users\busta\AppData\Local\Temp\claude\c--Users-busta-OneDrive-Documentos-Di-Tella-ACN-TP1-aviones\a3a2136c-d18f-4667-8d04-71bc7f747630\scratchpad\presentacion\prioritario.png">    </p:cNvPr>
          <p:cNvPicPr>
            <a:picLocks noChangeAspect="1"/>
          </p:cNvPicPr>
          <p:nvPr/>
        </p:nvPicPr>
        <p:blipFill>
          <a:blip r:embed="rId1"/>
          <a:stretch>
            <a:fillRect/>
          </a:stretch>
        </p:blipFill>
        <p:spPr>
          <a:xfrm>
            <a:off x="548640" y="1280160"/>
            <a:ext cx="7223760" cy="3051316"/>
          </a:xfrm>
          <a:prstGeom prst="rect">
            <a:avLst/>
          </a:prstGeom>
        </p:spPr>
      </p:pic>
      <p:sp>
        <p:nvSpPr>
          <p:cNvPr id="7" name="Text 4"/>
          <p:cNvSpPr txBox="1"/>
          <p:nvPr/>
        </p:nvSpPr>
        <p:spPr>
          <a:xfrm>
            <a:off x="548640" y="4468636"/>
            <a:ext cx="7223760" cy="64008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N pasajeros compran subir primero y rompen el orden de la política. Con 100 prioritarios ya no hay política: todas terminan en el tiempo de Random.</a:t>
            </a:r>
            <a:endParaRPr lang="en-US" sz="1200" dirty="0"/>
          </a:p>
        </p:txBody>
      </p:sp>
      <p:sp>
        <p:nvSpPr>
          <p:cNvPr id="8" name="Text 5"/>
          <p:cNvSpPr txBox="1"/>
          <p:nvPr/>
        </p:nvSpPr>
        <p:spPr>
          <a:xfrm>
            <a:off x="8183880" y="1325880"/>
            <a:ext cx="3459175"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Costo de cada prioritario vendido</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183880" y="1737360"/>
          <a:ext cx="9144000" cy="914400"/>
        </p:xfrm>
        <a:graphic>
          <a:graphicData uri="http://schemas.openxmlformats.org/drawingml/2006/table">
            <a:tbl>
              <a:tblPr/>
              <a:tblGrid>
                <a:gridCol w="1630375"/>
                <a:gridCol w="914400"/>
                <a:gridCol w="914400"/>
              </a:tblGrid>
              <a:tr h="365760">
                <a:tc>
                  <a:txBody>
                    <a:bodyPr/>
                    <a:lstStyle/>
                    <a:p>
                      <a:pPr algn="l" indent="0" marL="0">
                        <a:buNone/>
                      </a:pPr>
                      <a:r>
                        <a:rPr lang="en-US" sz="1200" b="1" dirty="0">
                          <a:solidFill>
                            <a:srgbClr val="1A1A1A"/>
                          </a:solidFill>
                          <a:latin typeface="Arial" pitchFamily="34" charset="0"/>
                          <a:ea typeface="Arial" pitchFamily="34" charset="-122"/>
                          <a:cs typeface="Arial" pitchFamily="34" charset="-120"/>
                        </a:rPr>
                        <a:t>Política</a:t>
                      </a:r>
                      <a:endParaRPr lang="en-US" sz="12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solidFill>
                      <a:srgbClr val="FCFCFB"/>
                    </a:solidFill>
                  </a:tcPr>
                </a:tc>
                <a:tc>
                  <a:txBody>
                    <a:bodyPr/>
                    <a:lstStyle/>
                    <a:p>
                      <a:pPr algn="r" indent="0" marL="0">
                        <a:buNone/>
                      </a:pPr>
                      <a:r>
                        <a:rPr lang="en-US" sz="1200" b="1" dirty="0">
                          <a:solidFill>
                            <a:srgbClr val="1A1A1A"/>
                          </a:solidFill>
                          <a:latin typeface="Arial" pitchFamily="34" charset="0"/>
                          <a:ea typeface="Arial" pitchFamily="34" charset="-122"/>
                          <a:cs typeface="Arial" pitchFamily="34" charset="-120"/>
                        </a:rPr>
                        <a:t>Segundos</a:t>
                      </a:r>
                      <a:endParaRPr lang="en-US" sz="12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solidFill>
                      <a:srgbClr val="FCFCFB"/>
                    </a:solidFill>
                  </a:tcPr>
                </a:tc>
                <a:tc>
                  <a:txBody>
                    <a:bodyPr/>
                    <a:lstStyle/>
                    <a:p>
                      <a:pPr algn="r" indent="0" marL="0">
                        <a:buNone/>
                      </a:pPr>
                      <a:r>
                        <a:rPr lang="en-US" sz="1200" b="1" dirty="0">
                          <a:solidFill>
                            <a:srgbClr val="1A1A1A"/>
                          </a:solidFill>
                          <a:latin typeface="Arial" pitchFamily="34" charset="0"/>
                          <a:ea typeface="Arial" pitchFamily="34" charset="-122"/>
                          <a:cs typeface="Arial" pitchFamily="34" charset="-120"/>
                        </a:rPr>
                        <a:t>USD</a:t>
                      </a:r>
                      <a:endParaRPr lang="en-US" sz="120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solidFill>
                      <a:srgbClr val="FCFCFB"/>
                    </a:solidFill>
                  </a:tcPr>
                </a:tc>
              </a:tr>
              <a:tr h="365760">
                <a:tc>
                  <a:txBody>
                    <a:bodyPr/>
                    <a:lstStyle/>
                    <a:p>
                      <a:pPr algn="l" indent="0" marL="0">
                        <a:buNone/>
                      </a:pPr>
                      <a:r>
                        <a:rPr lang="en-US" sz="1250" dirty="0">
                          <a:solidFill>
                            <a:srgbClr val="1A1A1A"/>
                          </a:solidFill>
                          <a:latin typeface="Arial" pitchFamily="34" charset="0"/>
                          <a:ea typeface="Arial" pitchFamily="34" charset="-122"/>
                          <a:cs typeface="Arial" pitchFamily="34" charset="-120"/>
                        </a:rPr>
                        <a:t>Steffen</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250" dirty="0">
                          <a:solidFill>
                            <a:srgbClr val="555555"/>
                          </a:solidFill>
                          <a:latin typeface="Arial" pitchFamily="34" charset="0"/>
                          <a:ea typeface="Arial" pitchFamily="34" charset="-122"/>
                          <a:cs typeface="Arial" pitchFamily="34" charset="-120"/>
                        </a:rPr>
                        <a:t>+4,1</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250" dirty="0">
                          <a:solidFill>
                            <a:srgbClr val="555555"/>
                          </a:solidFill>
                          <a:latin typeface="Arial" pitchFamily="34" charset="0"/>
                          <a:ea typeface="Arial" pitchFamily="34" charset="-122"/>
                          <a:cs typeface="Arial" pitchFamily="34" charset="-120"/>
                        </a:rPr>
                        <a:t>5,8</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r h="365760">
                <a:tc>
                  <a:txBody>
                    <a:bodyPr/>
                    <a:lstStyle/>
                    <a:p>
                      <a:pPr algn="l" indent="0" marL="0">
                        <a:buNone/>
                      </a:pPr>
                      <a:r>
                        <a:rPr lang="en-US" sz="1250" dirty="0">
                          <a:solidFill>
                            <a:srgbClr val="1A1A1A"/>
                          </a:solidFill>
                          <a:latin typeface="Arial" pitchFamily="34" charset="0"/>
                          <a:ea typeface="Arial" pitchFamily="34" charset="-122"/>
                          <a:cs typeface="Arial" pitchFamily="34" charset="-120"/>
                        </a:rPr>
                        <a:t>WILMA</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250" dirty="0">
                          <a:solidFill>
                            <a:srgbClr val="555555"/>
                          </a:solidFill>
                          <a:latin typeface="Arial" pitchFamily="34" charset="0"/>
                          <a:ea typeface="Arial" pitchFamily="34" charset="-122"/>
                          <a:cs typeface="Arial" pitchFamily="34" charset="-120"/>
                        </a:rPr>
                        <a:t>+2,4</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250" dirty="0">
                          <a:solidFill>
                            <a:srgbClr val="555555"/>
                          </a:solidFill>
                          <a:latin typeface="Arial" pitchFamily="34" charset="0"/>
                          <a:ea typeface="Arial" pitchFamily="34" charset="-122"/>
                          <a:cs typeface="Arial" pitchFamily="34" charset="-120"/>
                        </a:rPr>
                        <a:t>3,5</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r h="365760">
                <a:tc>
                  <a:txBody>
                    <a:bodyPr/>
                    <a:lstStyle/>
                    <a:p>
                      <a:pPr algn="l" indent="0" marL="0">
                        <a:buNone/>
                      </a:pPr>
                      <a:r>
                        <a:rPr lang="en-US" sz="1250" dirty="0">
                          <a:solidFill>
                            <a:srgbClr val="1A1A1A"/>
                          </a:solidFill>
                          <a:latin typeface="Arial" pitchFamily="34" charset="0"/>
                          <a:ea typeface="Arial" pitchFamily="34" charset="-122"/>
                          <a:cs typeface="Arial" pitchFamily="34" charset="-120"/>
                        </a:rPr>
                        <a:t>Random</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250" dirty="0">
                          <a:solidFill>
                            <a:srgbClr val="555555"/>
                          </a:solidFill>
                          <a:latin typeface="Arial" pitchFamily="34" charset="0"/>
                          <a:ea typeface="Arial" pitchFamily="34" charset="-122"/>
                          <a:cs typeface="Arial" pitchFamily="34" charset="-120"/>
                        </a:rPr>
                        <a:t>≈ 0</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250" dirty="0">
                          <a:solidFill>
                            <a:srgbClr val="555555"/>
                          </a:solidFill>
                          <a:latin typeface="Arial" pitchFamily="34" charset="0"/>
                          <a:ea typeface="Arial" pitchFamily="34" charset="-122"/>
                          <a:cs typeface="Arial" pitchFamily="34" charset="-120"/>
                        </a:rPr>
                        <a:t>≈ 0</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r h="365760">
                <a:tc>
                  <a:txBody>
                    <a:bodyPr/>
                    <a:lstStyle/>
                    <a:p>
                      <a:pPr algn="l" indent="0" marL="0">
                        <a:buNone/>
                      </a:pPr>
                      <a:r>
                        <a:rPr lang="en-US" sz="1250" dirty="0">
                          <a:solidFill>
                            <a:srgbClr val="1A1A1A"/>
                          </a:solidFill>
                          <a:latin typeface="Arial" pitchFamily="34" charset="0"/>
                          <a:ea typeface="Arial" pitchFamily="34" charset="-122"/>
                          <a:cs typeface="Arial" pitchFamily="34" charset="-120"/>
                        </a:rPr>
                        <a:t>B2F Ultimate</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250" dirty="0">
                          <a:solidFill>
                            <a:srgbClr val="555555"/>
                          </a:solidFill>
                          <a:latin typeface="Arial" pitchFamily="34" charset="0"/>
                          <a:ea typeface="Arial" pitchFamily="34" charset="-122"/>
                          <a:cs typeface="Arial" pitchFamily="34" charset="-120"/>
                        </a:rPr>
                        <a:t>≈ 0</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250" dirty="0">
                          <a:solidFill>
                            <a:srgbClr val="555555"/>
                          </a:solidFill>
                          <a:latin typeface="Arial" pitchFamily="34" charset="0"/>
                          <a:ea typeface="Arial" pitchFamily="34" charset="-122"/>
                          <a:cs typeface="Arial" pitchFamily="34" charset="-120"/>
                        </a:rPr>
                        <a:t>≈ 0</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r h="365760">
                <a:tc>
                  <a:txBody>
                    <a:bodyPr/>
                    <a:lstStyle/>
                    <a:p>
                      <a:pPr algn="l" indent="0" marL="0">
                        <a:buNone/>
                      </a:pPr>
                      <a:r>
                        <a:rPr lang="en-US" sz="1250" dirty="0">
                          <a:solidFill>
                            <a:srgbClr val="1A1A1A"/>
                          </a:solidFill>
                          <a:latin typeface="Arial" pitchFamily="34" charset="0"/>
                          <a:ea typeface="Arial" pitchFamily="34" charset="-122"/>
                          <a:cs typeface="Arial" pitchFamily="34" charset="-120"/>
                        </a:rPr>
                        <a:t>Back‑to‑Front</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250" dirty="0">
                          <a:solidFill>
                            <a:srgbClr val="555555"/>
                          </a:solidFill>
                          <a:latin typeface="Arial" pitchFamily="34" charset="0"/>
                          <a:ea typeface="Arial" pitchFamily="34" charset="-122"/>
                          <a:cs typeface="Arial" pitchFamily="34" charset="-120"/>
                        </a:rPr>
                        <a:t>−4,3</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c>
                  <a:txBody>
                    <a:bodyPr/>
                    <a:lstStyle/>
                    <a:p>
                      <a:pPr algn="r" indent="0" marL="0">
                        <a:buNone/>
                      </a:pPr>
                      <a:r>
                        <a:rPr lang="en-US" sz="1250" dirty="0">
                          <a:solidFill>
                            <a:srgbClr val="555555"/>
                          </a:solidFill>
                          <a:latin typeface="Arial" pitchFamily="34" charset="0"/>
                          <a:ea typeface="Arial" pitchFamily="34" charset="-122"/>
                          <a:cs typeface="Arial" pitchFamily="34" charset="-120"/>
                        </a:rPr>
                        <a:t>−6,2</a:t>
                      </a:r>
                      <a:endParaRPr lang="en-US" sz="1250" dirty="0">
                        <a:latin typeface="Arial" charset="0"/>
                        <a:ea typeface="Arial" charset="0"/>
                        <a:cs typeface="Arial" charset="0"/>
                      </a:endParaRPr>
                    </a:p>
                  </a:txBody>
                  <a:tcPr marL="45720" marR="45720" marT="45720" marB="45720" anchor="ctr">
                    <a:lnL w="0" cap="flat" cmpd="sng" algn="ctr">
                      <a:noFill/>
                    </a:lnL>
                    <a:lnR w="0" cap="flat" cmpd="sng" algn="ctr">
                      <a:noFill/>
                    </a:lnR>
                    <a:lnT w="0" cap="flat" cmpd="sng" algn="ctr">
                      <a:noFill/>
                    </a:lnT>
                    <a:lnB w="6350" cap="flat" cmpd="sng" algn="ctr">
                      <a:solidFill>
                        <a:srgbClr val="D6D6D2"/>
                      </a:solidFill>
                      <a:prstDash val="solid"/>
                      <a:round/>
                      <a:headEnd type="none" w="med" len="med"/>
                      <a:tailEnd type="none" w="med" len="med"/>
                    </a:lnB>
                    <a:solidFill>
                      <a:srgbClr val="FCFCFB"/>
                    </a:solidFill>
                  </a:tcPr>
                </a:tc>
              </a:tr>
            </a:tbl>
          </a:graphicData>
        </a:graphic>
      </p:graphicFrame>
      <p:sp>
        <p:nvSpPr>
          <p:cNvPr id="10" name="Text 6"/>
          <p:cNvSpPr txBox="1"/>
          <p:nvPr/>
        </p:nvSpPr>
        <p:spPr>
          <a:xfrm>
            <a:off x="8183880" y="4069080"/>
            <a:ext cx="3459175" cy="64008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Back‑to‑Front gana dos veces: cobra el prioritario y además embarca más rápido.</a:t>
            </a:r>
            <a:endParaRPr lang="en-US" sz="1200" dirty="0"/>
          </a:p>
        </p:txBody>
      </p:sp>
      <p:sp>
        <p:nvSpPr>
          <p:cNvPr id="11" name="Shape 7"/>
          <p:cNvSpPr/>
          <p:nvPr/>
        </p:nvSpPr>
        <p:spPr>
          <a:xfrm>
            <a:off x="548640" y="5166360"/>
            <a:ext cx="11094415" cy="1005840"/>
          </a:xfrm>
          <a:prstGeom prst="rect">
            <a:avLst/>
          </a:prstGeom>
          <a:solidFill>
            <a:srgbClr val="EFEFEC"/>
          </a:solidFill>
          <a:ln/>
        </p:spPr>
      </p:sp>
      <p:sp>
        <p:nvSpPr>
          <p:cNvPr id="12" name="Text 8"/>
          <p:cNvSpPr txBox="1"/>
          <p:nvPr/>
        </p:nvSpPr>
        <p:spPr>
          <a:xfrm>
            <a:off x="822960" y="5303520"/>
            <a:ext cx="2743200" cy="274320"/>
          </a:xfrm>
          <a:prstGeom prst="rect">
            <a:avLst/>
          </a:prstGeom>
          <a:noFill/>
          <a:ln/>
        </p:spPr>
        <p:txBody>
          <a:bodyPr wrap="square" lIns="0" tIns="0" rIns="0" bIns="0" rtlCol="0" anchor="t"/>
          <a:lstStyle/>
          <a:p>
            <a:pPr indent="0" marL="0">
              <a:buNone/>
            </a:pPr>
            <a:r>
              <a:rPr lang="en-US" sz="1300" b="1" dirty="0">
                <a:solidFill>
                  <a:srgbClr val="1A1A1A"/>
                </a:solidFill>
                <a:latin typeface="Arial" pitchFamily="34" charset="0"/>
                <a:ea typeface="Arial" pitchFamily="34" charset="-122"/>
                <a:cs typeface="Arial" pitchFamily="34" charset="-120"/>
              </a:rPr>
              <a:t>La lectura de negocio</a:t>
            </a:r>
            <a:endParaRPr lang="en-US" sz="1300" dirty="0"/>
          </a:p>
        </p:txBody>
      </p:sp>
      <p:sp>
        <p:nvSpPr>
          <p:cNvPr id="13" name="Text 9"/>
          <p:cNvSpPr txBox="1"/>
          <p:nvPr/>
        </p:nvSpPr>
        <p:spPr>
          <a:xfrm>
            <a:off x="822960" y="5596128"/>
            <a:ext cx="10545775" cy="548640"/>
          </a:xfrm>
          <a:prstGeom prst="rect">
            <a:avLst/>
          </a:prstGeom>
          <a:noFill/>
          <a:ln/>
        </p:spPr>
        <p:txBody>
          <a:bodyPr wrap="square" lIns="0" tIns="0" rIns="0" bIns="0" rtlCol="0" anchor="t"/>
          <a:lstStyle/>
          <a:p>
            <a:pPr indent="0" marL="0">
              <a:buNone/>
            </a:pPr>
            <a:r>
              <a:rPr lang="en-US" sz="1200" dirty="0">
                <a:solidFill>
                  <a:srgbClr val="555555"/>
                </a:solidFill>
                <a:latin typeface="Arial" pitchFamily="34" charset="0"/>
                <a:ea typeface="Arial" pitchFamily="34" charset="-122"/>
                <a:cs typeface="Arial" pitchFamily="34" charset="-120"/>
              </a:rPr>
              <a:t>A USD 15 por prioritario, venderlo conviene con cualquier política. La ventaja de Steffen sobre Random vale unos USD 480 por vuelo; cien prioritarios a USD 15 son USD 1.500. Por eso las aerolíneas venden prioritario en lugar de usar Steffen.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dirty="0">
                <a:solidFill>
                  <a:srgbClr val="8A8A8A"/>
                </a:solidFill>
                <a:latin typeface="Arial" pitchFamily="34" charset="0"/>
                <a:ea typeface="Arial" pitchFamily="34" charset="-122"/>
                <a:cs typeface="Arial" pitchFamily="34" charset="-120"/>
              </a:rPr>
              <a:t>Recomendación</a:t>
            </a:r>
            <a:endParaRPr lang="en-US" sz="1200" dirty="0"/>
          </a:p>
        </p:txBody>
      </p:sp>
      <p:sp>
        <p:nvSpPr>
          <p:cNvPr id="3" name="Text 1"/>
          <p:cNvSpPr txBox="1"/>
          <p:nvPr/>
        </p:nvSpPr>
        <p:spPr>
          <a:xfrm>
            <a:off x="548640" y="603504"/>
            <a:ext cx="11094415" cy="914400"/>
          </a:xfrm>
          <a:prstGeom prst="rect">
            <a:avLst/>
          </a:prstGeom>
          <a:noFill/>
          <a:ln/>
        </p:spPr>
        <p:txBody>
          <a:bodyPr wrap="square" lIns="0" tIns="0" rIns="0" bIns="0" rtlCol="0" anchor="t"/>
          <a:lstStyle/>
          <a:p>
            <a:pPr indent="0" marL="0">
              <a:lnSpc>
                <a:spcPct val="100000"/>
              </a:lnSpc>
              <a:buNone/>
            </a:pPr>
            <a:r>
              <a:rPr lang="en-US" sz="2600" b="1" dirty="0">
                <a:solidFill>
                  <a:srgbClr val="1A1A1A"/>
                </a:solidFill>
                <a:latin typeface="Arial" pitchFamily="34" charset="0"/>
                <a:ea typeface="Arial" pitchFamily="34" charset="-122"/>
                <a:cs typeface="Arial" pitchFamily="34" charset="-120"/>
              </a:rPr>
              <a:t>Recomendamos WILMA: primero ventanas, después pasillos</a:t>
            </a:r>
            <a:endParaRPr lang="en-US" sz="2600" dirty="0"/>
          </a:p>
        </p:txBody>
      </p:sp>
      <p:sp>
        <p:nvSpPr>
          <p:cNvPr id="4" name="Text 2"/>
          <p:cNvSpPr txBox="1"/>
          <p:nvPr/>
        </p:nvSpPr>
        <p:spPr>
          <a:xfrm>
            <a:off x="11094415" y="6419088"/>
            <a:ext cx="548640" cy="228600"/>
          </a:xfrm>
          <a:prstGeom prst="rect">
            <a:avLst/>
          </a:prstGeom>
          <a:noFill/>
          <a:ln/>
        </p:spPr>
        <p:txBody>
          <a:bodyPr wrap="square" lIns="0" tIns="0" rIns="0" bIns="0" rtlCol="0" anchor="t"/>
          <a:lstStyle/>
          <a:p>
            <a:pPr algn="r" indent="0" marL="0">
              <a:buNone/>
            </a:pPr>
            <a:r>
              <a:rPr lang="en-US" sz="1000" dirty="0">
                <a:solidFill>
                  <a:srgbClr val="8A8A8A"/>
                </a:solidFill>
                <a:latin typeface="Arial" pitchFamily="34" charset="0"/>
                <a:ea typeface="Arial" pitchFamily="34" charset="-122"/>
                <a:cs typeface="Arial" pitchFamily="34" charset="-120"/>
              </a:rPr>
              <a:t>15</a:t>
            </a:r>
            <a:endParaRPr lang="en-US" sz="1000" dirty="0"/>
          </a:p>
        </p:txBody>
      </p:sp>
      <p:sp>
        <p:nvSpPr>
          <p:cNvPr id="5" name="Text 3"/>
          <p:cNvSpPr txBox="1"/>
          <p:nvPr/>
        </p:nvSpPr>
        <p:spPr>
          <a:xfrm>
            <a:off x="548640" y="1463040"/>
            <a:ext cx="3393338" cy="640080"/>
          </a:xfrm>
          <a:prstGeom prst="rect">
            <a:avLst/>
          </a:prstGeom>
          <a:noFill/>
          <a:ln/>
        </p:spPr>
        <p:txBody>
          <a:bodyPr wrap="square" lIns="0" tIns="0" rIns="0" bIns="0" rtlCol="0" anchor="t"/>
          <a:lstStyle/>
          <a:p>
            <a:pPr indent="0" marL="0">
              <a:buNone/>
            </a:pPr>
            <a:r>
              <a:rPr lang="en-US" sz="3600" b="1" dirty="0">
                <a:solidFill>
                  <a:srgbClr val="1A1A1A"/>
                </a:solidFill>
                <a:latin typeface="Arial" pitchFamily="34" charset="0"/>
                <a:ea typeface="Arial" pitchFamily="34" charset="-122"/>
                <a:cs typeface="Arial" pitchFamily="34" charset="-120"/>
              </a:rPr>
              <a:t>−8,2 min</a:t>
            </a:r>
            <a:endParaRPr lang="en-US" sz="3600" dirty="0"/>
          </a:p>
        </p:txBody>
      </p:sp>
      <p:sp>
        <p:nvSpPr>
          <p:cNvPr id="6" name="Text 4"/>
          <p:cNvSpPr txBox="1"/>
          <p:nvPr/>
        </p:nvSpPr>
        <p:spPr>
          <a:xfrm>
            <a:off x="548640" y="2121408"/>
            <a:ext cx="3393338"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frente a Back‑to‑Front</a:t>
            </a:r>
            <a:endParaRPr lang="en-US" sz="1400" dirty="0"/>
          </a:p>
        </p:txBody>
      </p:sp>
      <p:sp>
        <p:nvSpPr>
          <p:cNvPr id="7" name="Text 5"/>
          <p:cNvSpPr txBox="1"/>
          <p:nvPr/>
        </p:nvSpPr>
        <p:spPr>
          <a:xfrm>
            <a:off x="548640" y="2468880"/>
            <a:ext cx="3393338" cy="6400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USD 690 por vuelo, a USD 85 el minuto de demora.</a:t>
            </a:r>
            <a:endParaRPr lang="en-US" sz="1250" dirty="0"/>
          </a:p>
        </p:txBody>
      </p:sp>
      <p:sp>
        <p:nvSpPr>
          <p:cNvPr id="8" name="Shape 6"/>
          <p:cNvSpPr/>
          <p:nvPr/>
        </p:nvSpPr>
        <p:spPr>
          <a:xfrm>
            <a:off x="548640" y="3429000"/>
            <a:ext cx="3393338" cy="2331720"/>
          </a:xfrm>
          <a:prstGeom prst="rect">
            <a:avLst/>
          </a:prstGeom>
          <a:solidFill>
            <a:srgbClr val="EFEFEC"/>
          </a:solidFill>
          <a:ln/>
        </p:spPr>
      </p:sp>
      <p:sp>
        <p:nvSpPr>
          <p:cNvPr id="9" name="Text 7"/>
          <p:cNvSpPr txBox="1"/>
          <p:nvPr/>
        </p:nvSpPr>
        <p:spPr>
          <a:xfrm>
            <a:off x="777240" y="3611880"/>
            <a:ext cx="2936138"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Qué hacer</a:t>
            </a:r>
            <a:endParaRPr lang="en-US" sz="1400" dirty="0"/>
          </a:p>
        </p:txBody>
      </p:sp>
      <p:sp>
        <p:nvSpPr>
          <p:cNvPr id="10" name="Text 8"/>
          <p:cNvSpPr txBox="1"/>
          <p:nvPr/>
        </p:nvSpPr>
        <p:spPr>
          <a:xfrm>
            <a:off x="777240" y="4023360"/>
            <a:ext cx="2936138" cy="164592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rgbClr val="555555"/>
                </a:solidFill>
                <a:latin typeface="Arial" pitchFamily="34" charset="0"/>
                <a:ea typeface="Arial" pitchFamily="34" charset="-122"/>
                <a:cs typeface="Arial" pitchFamily="34" charset="-120"/>
              </a:rPr>
              <a:t>Llamar en dos grupos: ventanas y después pasillos</a:t>
            </a:r>
            <a:endParaRPr lang="en-US" sz="1250" dirty="0"/>
          </a:p>
          <a:p>
            <a:pPr marL="203200" indent="-203200">
              <a:spcAft>
                <a:spcPts val="800"/>
              </a:spcAft>
              <a:buSzPct val="100000"/>
              <a:buChar char="•"/>
            </a:pPr>
            <a:r>
              <a:rPr lang="en-US" sz="1250" dirty="0">
                <a:solidFill>
                  <a:srgbClr val="555555"/>
                </a:solidFill>
                <a:latin typeface="Arial" pitchFamily="34" charset="0"/>
                <a:ea typeface="Arial" pitchFamily="34" charset="-122"/>
                <a:cs typeface="Arial" pitchFamily="34" charset="-120"/>
              </a:rPr>
              <a:t>Mantener el prioritario comercial dentro de ese orden</a:t>
            </a:r>
            <a:endParaRPr lang="en-US" sz="1250" dirty="0"/>
          </a:p>
        </p:txBody>
      </p:sp>
      <p:sp>
        <p:nvSpPr>
          <p:cNvPr id="11" name="Text 9"/>
          <p:cNvSpPr txBox="1"/>
          <p:nvPr/>
        </p:nvSpPr>
        <p:spPr>
          <a:xfrm>
            <a:off x="4399178" y="1463040"/>
            <a:ext cx="3393338" cy="640080"/>
          </a:xfrm>
          <a:prstGeom prst="rect">
            <a:avLst/>
          </a:prstGeom>
          <a:noFill/>
          <a:ln/>
        </p:spPr>
        <p:txBody>
          <a:bodyPr wrap="square" lIns="0" tIns="0" rIns="0" bIns="0" rtlCol="0" anchor="t"/>
          <a:lstStyle/>
          <a:p>
            <a:pPr indent="0" marL="0">
              <a:buNone/>
            </a:pPr>
            <a:r>
              <a:rPr lang="en-US" sz="3600" b="1" dirty="0">
                <a:solidFill>
                  <a:srgbClr val="1A1A1A"/>
                </a:solidFill>
                <a:latin typeface="Arial" pitchFamily="34" charset="0"/>
                <a:ea typeface="Arial" pitchFamily="34" charset="-122"/>
                <a:cs typeface="Arial" pitchFamily="34" charset="-120"/>
              </a:rPr>
              <a:t>+3,3 min</a:t>
            </a:r>
            <a:endParaRPr lang="en-US" sz="3600" dirty="0"/>
          </a:p>
        </p:txBody>
      </p:sp>
      <p:sp>
        <p:nvSpPr>
          <p:cNvPr id="12" name="Text 10"/>
          <p:cNvSpPr txBox="1"/>
          <p:nvPr/>
        </p:nvSpPr>
        <p:spPr>
          <a:xfrm>
            <a:off x="4399178" y="2121408"/>
            <a:ext cx="3393338"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frente a Steffen</a:t>
            </a:r>
            <a:endParaRPr lang="en-US" sz="1400" dirty="0"/>
          </a:p>
        </p:txBody>
      </p:sp>
      <p:sp>
        <p:nvSpPr>
          <p:cNvPr id="13" name="Text 11"/>
          <p:cNvSpPr txBox="1"/>
          <p:nvPr/>
        </p:nvSpPr>
        <p:spPr>
          <a:xfrm>
            <a:off x="4399178" y="2468880"/>
            <a:ext cx="3393338" cy="6400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Es lo que se resigna a cambio de una regla que se puede cumplir.</a:t>
            </a:r>
            <a:endParaRPr lang="en-US" sz="1250" dirty="0"/>
          </a:p>
        </p:txBody>
      </p:sp>
      <p:sp>
        <p:nvSpPr>
          <p:cNvPr id="14" name="Shape 12"/>
          <p:cNvSpPr/>
          <p:nvPr/>
        </p:nvSpPr>
        <p:spPr>
          <a:xfrm>
            <a:off x="4399178" y="3429000"/>
            <a:ext cx="3393338" cy="2331720"/>
          </a:xfrm>
          <a:prstGeom prst="rect">
            <a:avLst/>
          </a:prstGeom>
          <a:solidFill>
            <a:srgbClr val="EFEFEC"/>
          </a:solidFill>
          <a:ln/>
        </p:spPr>
      </p:sp>
      <p:sp>
        <p:nvSpPr>
          <p:cNvPr id="15" name="Text 13"/>
          <p:cNvSpPr txBox="1"/>
          <p:nvPr/>
        </p:nvSpPr>
        <p:spPr>
          <a:xfrm>
            <a:off x="4627778" y="3611880"/>
            <a:ext cx="2936138"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Por qué no Steffen</a:t>
            </a:r>
            <a:endParaRPr lang="en-US" sz="1400" dirty="0"/>
          </a:p>
        </p:txBody>
      </p:sp>
      <p:sp>
        <p:nvSpPr>
          <p:cNvPr id="16" name="Text 14"/>
          <p:cNvSpPr txBox="1"/>
          <p:nvPr/>
        </p:nvSpPr>
        <p:spPr>
          <a:xfrm>
            <a:off x="4627778" y="4023360"/>
            <a:ext cx="2936138" cy="164592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rgbClr val="555555"/>
                </a:solidFill>
                <a:latin typeface="Arial" pitchFamily="34" charset="0"/>
                <a:ea typeface="Arial" pitchFamily="34" charset="-122"/>
                <a:cs typeface="Arial" pitchFamily="34" charset="-120"/>
              </a:rPr>
              <a:t>Exige ordenar a cada pasajero por fila, lado y paridad</a:t>
            </a:r>
            <a:endParaRPr lang="en-US" sz="1250" dirty="0"/>
          </a:p>
          <a:p>
            <a:pPr marL="203200" indent="-203200">
              <a:spcAft>
                <a:spcPts val="800"/>
              </a:spcAft>
              <a:buSzPct val="100000"/>
              <a:buChar char="•"/>
            </a:pPr>
            <a:r>
              <a:rPr lang="en-US" sz="1250" dirty="0">
                <a:solidFill>
                  <a:srgbClr val="555555"/>
                </a:solidFill>
                <a:latin typeface="Arial" pitchFamily="34" charset="0"/>
                <a:ea typeface="Arial" pitchFamily="34" charset="-122"/>
                <a:cs typeface="Arial" pitchFamily="34" charset="-120"/>
              </a:rPr>
              <a:t>Las familias no se separan y en la puerta no se puede controlar</a:t>
            </a:r>
            <a:endParaRPr lang="en-US" sz="1250" dirty="0"/>
          </a:p>
          <a:p>
            <a:pPr marL="203200" indent="-203200">
              <a:spcAft>
                <a:spcPts val="800"/>
              </a:spcAft>
              <a:buSzPct val="100000"/>
              <a:buChar char="•"/>
            </a:pPr>
            <a:r>
              <a:rPr lang="en-US" sz="1250" dirty="0">
                <a:solidFill>
                  <a:srgbClr val="555555"/>
                </a:solidFill>
                <a:latin typeface="Arial" pitchFamily="34" charset="0"/>
                <a:ea typeface="Arial" pitchFamily="34" charset="-122"/>
                <a:cs typeface="Arial" pitchFamily="34" charset="-120"/>
              </a:rPr>
              <a:t>Es la que más pierde cuando alguien rompe el orden</a:t>
            </a:r>
            <a:endParaRPr lang="en-US" sz="1250" dirty="0"/>
          </a:p>
        </p:txBody>
      </p:sp>
      <p:sp>
        <p:nvSpPr>
          <p:cNvPr id="17" name="Text 15"/>
          <p:cNvSpPr txBox="1"/>
          <p:nvPr/>
        </p:nvSpPr>
        <p:spPr>
          <a:xfrm>
            <a:off x="8249717" y="1463040"/>
            <a:ext cx="3393338" cy="640080"/>
          </a:xfrm>
          <a:prstGeom prst="rect">
            <a:avLst/>
          </a:prstGeom>
          <a:noFill/>
          <a:ln/>
        </p:spPr>
        <p:txBody>
          <a:bodyPr wrap="square" lIns="0" tIns="0" rIns="0" bIns="0" rtlCol="0" anchor="t"/>
          <a:lstStyle/>
          <a:p>
            <a:pPr indent="0" marL="0">
              <a:buNone/>
            </a:pPr>
            <a:r>
              <a:rPr lang="en-US" sz="3600" b="1" dirty="0">
                <a:solidFill>
                  <a:srgbClr val="1A1A1A"/>
                </a:solidFill>
                <a:latin typeface="Arial" pitchFamily="34" charset="0"/>
                <a:ea typeface="Arial" pitchFamily="34" charset="-122"/>
                <a:cs typeface="Arial" pitchFamily="34" charset="-120"/>
              </a:rPr>
              <a:t>+125%</a:t>
            </a:r>
            <a:endParaRPr lang="en-US" sz="3600" dirty="0"/>
          </a:p>
        </p:txBody>
      </p:sp>
      <p:sp>
        <p:nvSpPr>
          <p:cNvPr id="18" name="Text 16"/>
          <p:cNvSpPr txBox="1"/>
          <p:nvPr/>
        </p:nvSpPr>
        <p:spPr>
          <a:xfrm>
            <a:off x="8249717" y="2121408"/>
            <a:ext cx="3393338"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con todos cargando valija</a:t>
            </a:r>
            <a:endParaRPr lang="en-US" sz="1400" dirty="0"/>
          </a:p>
        </p:txBody>
      </p:sp>
      <p:sp>
        <p:nvSpPr>
          <p:cNvPr id="19" name="Text 17"/>
          <p:cNvSpPr txBox="1"/>
          <p:nvPr/>
        </p:nvSpPr>
        <p:spPr>
          <a:xfrm>
            <a:off x="8249717" y="2468880"/>
            <a:ext cx="3393338" cy="640080"/>
          </a:xfrm>
          <a:prstGeom prst="rect">
            <a:avLst/>
          </a:prstGeom>
          <a:noFill/>
          <a:ln/>
        </p:spPr>
        <p:txBody>
          <a:bodyPr wrap="square" lIns="0" tIns="0" rIns="0" bIns="0" rtlCol="0" anchor="t"/>
          <a:lstStyle/>
          <a:p>
            <a:pPr indent="0" marL="0">
              <a:buNone/>
            </a:pPr>
            <a:r>
              <a:rPr lang="en-US" sz="1250" dirty="0">
                <a:solidFill>
                  <a:srgbClr val="555555"/>
                </a:solidFill>
                <a:latin typeface="Arial" pitchFamily="34" charset="0"/>
                <a:ea typeface="Arial" pitchFamily="34" charset="-122"/>
                <a:cs typeface="Arial" pitchFamily="34" charset="-120"/>
              </a:rPr>
              <a:t>El carry-on es lo que más mueve el tiempo de embarque.</a:t>
            </a:r>
            <a:endParaRPr lang="en-US" sz="1250" dirty="0"/>
          </a:p>
        </p:txBody>
      </p:sp>
      <p:sp>
        <p:nvSpPr>
          <p:cNvPr id="20" name="Shape 18"/>
          <p:cNvSpPr/>
          <p:nvPr/>
        </p:nvSpPr>
        <p:spPr>
          <a:xfrm>
            <a:off x="8249717" y="3429000"/>
            <a:ext cx="3393338" cy="2331720"/>
          </a:xfrm>
          <a:prstGeom prst="rect">
            <a:avLst/>
          </a:prstGeom>
          <a:solidFill>
            <a:srgbClr val="EFEFEC"/>
          </a:solidFill>
          <a:ln/>
        </p:spPr>
      </p:sp>
      <p:sp>
        <p:nvSpPr>
          <p:cNvPr id="21" name="Text 19"/>
          <p:cNvSpPr txBox="1"/>
          <p:nvPr/>
        </p:nvSpPr>
        <p:spPr>
          <a:xfrm>
            <a:off x="8478317" y="3611880"/>
            <a:ext cx="2936138" cy="320040"/>
          </a:xfrm>
          <a:prstGeom prst="rect">
            <a:avLst/>
          </a:prstGeom>
          <a:noFill/>
          <a:ln/>
        </p:spPr>
        <p:txBody>
          <a:bodyPr wrap="square" lIns="0" tIns="0" rIns="0" bIns="0" rtlCol="0" anchor="t"/>
          <a:lstStyle/>
          <a:p>
            <a:pPr indent="0" marL="0">
              <a:buNone/>
            </a:pPr>
            <a:r>
              <a:rPr lang="en-US" sz="1400" b="1" dirty="0">
                <a:solidFill>
                  <a:srgbClr val="1A1A1A"/>
                </a:solidFill>
                <a:latin typeface="Arial" pitchFamily="34" charset="0"/>
                <a:ea typeface="Arial" pitchFamily="34" charset="-122"/>
                <a:cs typeface="Arial" pitchFamily="34" charset="-120"/>
              </a:rPr>
              <a:t>Próximos pasos</a:t>
            </a:r>
            <a:endParaRPr lang="en-US" sz="1400" dirty="0"/>
          </a:p>
        </p:txBody>
      </p:sp>
      <p:sp>
        <p:nvSpPr>
          <p:cNvPr id="22" name="Text 20"/>
          <p:cNvSpPr txBox="1"/>
          <p:nvPr/>
        </p:nvSpPr>
        <p:spPr>
          <a:xfrm>
            <a:off x="8478317" y="4023360"/>
            <a:ext cx="2936138" cy="1645920"/>
          </a:xfrm>
          <a:prstGeom prst="rect">
            <a:avLst/>
          </a:prstGeom>
          <a:noFill/>
          <a:ln/>
        </p:spPr>
        <p:txBody>
          <a:bodyPr wrap="square" lIns="0" tIns="0" rIns="0" bIns="0" rtlCol="0" anchor="t"/>
          <a:lstStyle/>
          <a:p>
            <a:pPr marL="203200" indent="-203200">
              <a:spcAft>
                <a:spcPts val="800"/>
              </a:spcAft>
              <a:buSzPct val="100000"/>
              <a:buChar char="•"/>
            </a:pPr>
            <a:r>
              <a:rPr lang="en-US" sz="1250" dirty="0">
                <a:solidFill>
                  <a:srgbClr val="555555"/>
                </a:solidFill>
                <a:latin typeface="Arial" pitchFamily="34" charset="0"/>
                <a:ea typeface="Arial" pitchFamily="34" charset="-122"/>
                <a:cs typeface="Arial" pitchFamily="34" charset="-120"/>
              </a:rPr>
              <a:t>Cronometrar los tiempos que hoy estimamos</a:t>
            </a:r>
            <a:endParaRPr lang="en-US" sz="1250" dirty="0"/>
          </a:p>
          <a:p>
            <a:pPr marL="203200" indent="-203200">
              <a:spcAft>
                <a:spcPts val="800"/>
              </a:spcAft>
              <a:buSzPct val="100000"/>
              <a:buChar char="•"/>
            </a:pPr>
            <a:r>
              <a:rPr lang="en-US" sz="1250" dirty="0">
                <a:solidFill>
                  <a:srgbClr val="555555"/>
                </a:solidFill>
                <a:latin typeface="Arial" pitchFamily="34" charset="0"/>
                <a:ea typeface="Arial" pitchFamily="34" charset="-122"/>
                <a:cs typeface="Arial" pitchFamily="34" charset="-120"/>
              </a:rPr>
              <a:t>Evaluar una política de carry-on: cobrarlo o despacharlo gratis</a:t>
            </a:r>
            <a:endParaRPr lang="en-US" sz="1250" dirty="0"/>
          </a:p>
          <a:p>
            <a:pPr marL="203200" indent="-203200">
              <a:spcAft>
                <a:spcPts val="800"/>
              </a:spcAft>
              <a:buSzPct val="100000"/>
              <a:buChar char="•"/>
            </a:pPr>
            <a:r>
              <a:rPr lang="en-US" sz="1250" dirty="0">
                <a:solidFill>
                  <a:srgbClr val="555555"/>
                </a:solidFill>
                <a:latin typeface="Arial" pitchFamily="34" charset="0"/>
                <a:ea typeface="Arial" pitchFamily="34" charset="-122"/>
                <a:cs typeface="Arial" pitchFamily="34" charset="-120"/>
              </a:rPr>
              <a:t>Probar embarque por dos puertas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Cómo embarcar un avión más rápido</dc:title>
  <dc:subject>PptxGenJS Presentation</dc:subject>
  <dc:creator>PptxGenJS</dc:creator>
  <cp:lastModifiedBy>PptxGenJS</cp:lastModifiedBy>
  <cp:revision>1</cp:revision>
  <dcterms:created xsi:type="dcterms:W3CDTF">2026-09-23T19:17:23Z</dcterms:created>
  <dcterms:modified xsi:type="dcterms:W3CDTF">2026-09-23T19:17:23Z</dcterms:modified>
</cp:coreProperties>
</file>